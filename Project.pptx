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Play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SGeqNWgXGjYiLDFhUaRRA2mG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B49A-8ABB-4894-AD29-65B719E2D82E}">
  <a:tblStyle styleId="{F289B49A-8ABB-4894-AD29-65B719E2D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font" Target="fonts/Raleway-regular.fntdata"/><Relationship Id="rId30" Type="http://schemas.openxmlformats.org/officeDocument/2006/relationships/font" Target="fonts/Raleway-bold.fntdata"/><Relationship Id="rId31" Type="http://schemas.openxmlformats.org/officeDocument/2006/relationships/font" Target="fonts/Raleway-italic.fntdata"/><Relationship Id="rId32" Type="http://schemas.openxmlformats.org/officeDocument/2006/relationships/font" Target="fonts/Raleway-boldItalic.fntdata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045bda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a6045bda6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045bda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6045bda6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3e486e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13e486e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e486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13e486e5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e486e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13e486e5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3e486e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13e486e5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3e486e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13e486e5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3e486e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13e486e5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3e486e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b13e486e5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045bda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6045bda6f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5a981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15a98193e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5a98193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15a98193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5a9819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15a9819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5a9819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15a98193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15a9819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15a98193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5a9819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15a98193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5a9819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15a98193e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15a98193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15a98193e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5a98193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15a98193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a98193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15a98193e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6045bda6f_0_14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6045bda6f_0_147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g3a6045bda6f_0_147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1pPr>
            <a:lvl2pPr indent="-328041" lvl="1" marL="9144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2pPr>
            <a:lvl3pPr indent="-328041" lvl="2" marL="13716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■"/>
              <a:defRPr/>
            </a:lvl3pPr>
            <a:lvl4pPr indent="-328041" lvl="3" marL="18288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4pPr>
            <a:lvl5pPr indent="-328041" lvl="4" marL="22860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a6045bda6f_0_147"/>
          <p:cNvSpPr txBox="1"/>
          <p:nvPr>
            <p:ph idx="10" type="dt"/>
          </p:nvPr>
        </p:nvSpPr>
        <p:spPr>
          <a:xfrm>
            <a:off x="6400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6045bda6f_0_147"/>
          <p:cNvSpPr txBox="1"/>
          <p:nvPr>
            <p:ph idx="11" type="ftr"/>
          </p:nvPr>
        </p:nvSpPr>
        <p:spPr>
          <a:xfrm>
            <a:off x="6767622" y="6356350"/>
            <a:ext cx="404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6045bda6f_0_147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a6045bda6f_0_88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a6045bda6f_0_88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a6045bda6f_0_8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a6045bda6f_0_88"/>
          <p:cNvSpPr txBox="1"/>
          <p:nvPr>
            <p:ph type="ctrTitle"/>
          </p:nvPr>
        </p:nvSpPr>
        <p:spPr>
          <a:xfrm>
            <a:off x="3162300" y="840300"/>
            <a:ext cx="84420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6045bda6f_0_88"/>
          <p:cNvSpPr txBox="1"/>
          <p:nvPr>
            <p:ph idx="1" type="subTitle"/>
          </p:nvPr>
        </p:nvSpPr>
        <p:spPr>
          <a:xfrm>
            <a:off x="3187022" y="4317933"/>
            <a:ext cx="844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a6045bda6f_0_8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6045bda6f_0_95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a6045bda6f_0_95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a6045bda6f_0_95"/>
          <p:cNvSpPr txBox="1"/>
          <p:nvPr>
            <p:ph type="title"/>
          </p:nvPr>
        </p:nvSpPr>
        <p:spPr>
          <a:xfrm>
            <a:off x="541900" y="2409100"/>
            <a:ext cx="11062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a6045bda6f_0_9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6045bda6f_0_100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a6045bda6f_0_100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a6045bda6f_0_100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a6045bda6f_0_10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g3a6045bda6f_0_10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5" name="Google Shape;35;g3a6045bda6f_0_10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6045bda6f_0_107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a6045bda6f_0_107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a6045bda6f_0_107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6045bda6f_0_10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1" name="Google Shape;41;g3a6045bda6f_0_107"/>
          <p:cNvSpPr txBox="1"/>
          <p:nvPr>
            <p:ph idx="1" type="body"/>
          </p:nvPr>
        </p:nvSpPr>
        <p:spPr>
          <a:xfrm>
            <a:off x="3200403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6045bda6f_0_107"/>
          <p:cNvSpPr txBox="1"/>
          <p:nvPr>
            <p:ph idx="2" type="body"/>
          </p:nvPr>
        </p:nvSpPr>
        <p:spPr>
          <a:xfrm>
            <a:off x="7534096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3a6045bda6f_0_10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045bda6f_0_115"/>
          <p:cNvSpPr txBox="1"/>
          <p:nvPr>
            <p:ph type="title"/>
          </p:nvPr>
        </p:nvSpPr>
        <p:spPr>
          <a:xfrm>
            <a:off x="404400" y="548767"/>
            <a:ext cx="113607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g3a6045bda6f_0_11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a6045bda6f_0_11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6045bda6f_0_118"/>
          <p:cNvSpPr txBox="1"/>
          <p:nvPr>
            <p:ph type="title"/>
          </p:nvPr>
        </p:nvSpPr>
        <p:spPr>
          <a:xfrm>
            <a:off x="426000" y="1248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g3a6045bda6f_0_118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1" name="Google Shape;51;g3a6045bda6f_0_11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g3a6045bda6f_0_123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a6045bda6f_0_123"/>
          <p:cNvSpPr txBox="1"/>
          <p:nvPr>
            <p:ph type="title"/>
          </p:nvPr>
        </p:nvSpPr>
        <p:spPr>
          <a:xfrm>
            <a:off x="377471" y="949521"/>
            <a:ext cx="8325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6045bda6f_0_12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45bda6f_0_127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a6045bda6f_0_127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a6045bda6f_0_127"/>
          <p:cNvSpPr txBox="1"/>
          <p:nvPr>
            <p:ph type="title"/>
          </p:nvPr>
        </p:nvSpPr>
        <p:spPr>
          <a:xfrm>
            <a:off x="354000" y="1863133"/>
            <a:ext cx="53937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g3a6045bda6f_0_127"/>
          <p:cNvSpPr txBox="1"/>
          <p:nvPr>
            <p:ph idx="1" type="subTitle"/>
          </p:nvPr>
        </p:nvSpPr>
        <p:spPr>
          <a:xfrm>
            <a:off x="354000" y="364716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a6045bda6f_0_12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a6045bda6f_0_12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a6045bda6f_0_134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g3a6045bda6f_0_134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a6045bda6f_0_134"/>
          <p:cNvSpPr txBox="1"/>
          <p:nvPr>
            <p:ph idx="1" type="body"/>
          </p:nvPr>
        </p:nvSpPr>
        <p:spPr>
          <a:xfrm>
            <a:off x="437356" y="5634700"/>
            <a:ext cx="11184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7" name="Google Shape;67;g3a6045bda6f_0_13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g3a6045bda6f_0_139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g3a6045bda6f_0_139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a6045bda6f_0_139"/>
          <p:cNvSpPr txBox="1"/>
          <p:nvPr>
            <p:ph hasCustomPrompt="1" type="title"/>
          </p:nvPr>
        </p:nvSpPr>
        <p:spPr>
          <a:xfrm>
            <a:off x="1138600" y="1739800"/>
            <a:ext cx="9914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g3a6045bda6f_0_139"/>
          <p:cNvSpPr txBox="1"/>
          <p:nvPr>
            <p:ph idx="1" type="body"/>
          </p:nvPr>
        </p:nvSpPr>
        <p:spPr>
          <a:xfrm>
            <a:off x="1138600" y="3892600"/>
            <a:ext cx="9914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a6045bda6f_0_13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045bda6f_0_84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6045bda6f_0_84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6045bda6f_0_8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5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290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4267200" y="1648919"/>
            <a:ext cx="3816616" cy="3479228"/>
          </a:xfrm>
          <a:custGeom>
            <a:rect b="b" l="l" r="r" t="t"/>
            <a:pathLst>
              <a:path extrusionOk="0" h="6601704" w="7169883">
                <a:moveTo>
                  <a:pt x="0" y="0"/>
                </a:moveTo>
                <a:lnTo>
                  <a:pt x="7169883" y="0"/>
                </a:lnTo>
                <a:lnTo>
                  <a:pt x="7169883" y="6601704"/>
                </a:lnTo>
                <a:lnTo>
                  <a:pt x="0" y="6601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125518" y="2110647"/>
            <a:ext cx="81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PRIVACY-UTILITY TRADE-OFF: A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SPATIOTEMPORAL-CONSTRAINT AND SECURE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CAMPUS MONITORING SYSTEM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828800" y="429320"/>
            <a:ext cx="87630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045957" y="1039125"/>
            <a:ext cx="8100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019492" y="1657043"/>
            <a:ext cx="6381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REVIEW PRESENTATION 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746826" y="3849616"/>
            <a:ext cx="45720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3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75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NARENDRA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24A21D5827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M. Tech (CSE)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586925" y="5220325"/>
            <a:ext cx="489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FFDF08"/>
                </a:solidFill>
                <a:latin typeface="Times New Roman"/>
              </a:rPr>
              <a:t>Dr. S. Suresh Kumar, M.Tech, Ph.D, PDF</a:t>
            </a:r>
            <a:endParaRPr b="1" i="0" sz="2000" u="none" cap="none" strike="noStrike">
              <a:solidFill>
                <a:srgbClr val="FFDF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93B3D7"/>
                </a:solidFill>
                <a:latin typeface="Times New Roman"/>
              </a:rPr>
              <a:t>Professor &amp; Principal, Dept.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805975" y="22709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40075" y="1656850"/>
            <a:ext cx="4840200" cy="4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"Privacy-Utility" conflict: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How to automate attendance and campus safety monitoring without creating a high-risk biometric database of students.</a:t>
            </a:r>
            <a:endParaRPr i="0" sz="2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</a:pPr>
            <a:r>
              <a:rPr b="1"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of current systems: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RFID proxy swipe vulnerabilities, high computational overhead, and legal liabilities (GDPR Article 25 violations).</a:t>
            </a:r>
            <a:endParaRPr i="0" sz="2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640075" y="5303525"/>
            <a:ext cx="1089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275" y="1656850"/>
            <a:ext cx="6050700" cy="4354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045bda6f_0_4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Motivation &amp; Objectives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g3a6045bda6f_0_43"/>
          <p:cNvSpPr txBox="1"/>
          <p:nvPr/>
        </p:nvSpPr>
        <p:spPr>
          <a:xfrm>
            <a:off x="640075" y="1656850"/>
            <a:ext cx="10890900" cy="20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Automating PG/UG attendance verification dynamically.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Eliminating manual tracking errors.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Designing a volatile system where raw frames are destroyed within 33ms.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Securing all administrative logs against tampering.</a:t>
            </a:r>
            <a:endParaRPr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5" y="3417450"/>
            <a:ext cx="10890900" cy="2786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045bda6f_0_6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vs. Proposed System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3a6045bda6f_0_61"/>
          <p:cNvSpPr txBox="1"/>
          <p:nvPr/>
        </p:nvSpPr>
        <p:spPr>
          <a:xfrm>
            <a:off x="640075" y="1656850"/>
            <a:ext cx="10890900" cy="45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7" name="Google Shape;107;g3a6045bda6f_0_61"/>
          <p:cNvGraphicFramePr/>
          <p:nvPr/>
        </p:nvGraphicFramePr>
        <p:xfrm>
          <a:off x="640075" y="218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{F289B49A-8ABB-4894-AD29-65B719E2D82E}</a:tableStyleId>
              </a:tblPr>
              <a:tblGrid>
                <a:gridCol w="3035375"/>
                <a:gridCol w="2978725"/>
              </a:tblGrid>
              <a:tr h="5879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Existing: Manual / RFID</a:t>
                      </a: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Proposed: Edge Sensing</a:t>
                      </a: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88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Closed-set recognition only</a:t>
                      </a: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Open-set FAISS search</a:t>
                      </a: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8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Plain DB storage (Vulnerable)</a:t>
                      </a: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Cryptographic Merkle Ledger</a:t>
                      </a: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87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Vulnerable to buddy punching</a:t>
                      </a: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ST-CSF constraint checking</a:t>
                      </a: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8" name="Picture 107" descr="slide_4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175" y="1656850"/>
            <a:ext cx="4876800" cy="4498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e486e5b_0_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Concentric Onion Architecture (Design)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g3b13e486e5b_0_2"/>
          <p:cNvSpPr txBox="1"/>
          <p:nvPr/>
        </p:nvSpPr>
        <p:spPr>
          <a:xfrm>
            <a:off x="640075" y="2096225"/>
            <a:ext cx="44706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Introduction to the 8 concentric isolation layers.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Layer 3 (L3) Irreversible Boundary: How it divides raw sensor substrates (L1/L2) from persistent database and UI scopes (L4-L8).</a:t>
            </a:r>
            <a:endParaRPr b="1"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675" y="2096225"/>
            <a:ext cx="6420301" cy="4119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3e486e5b_0_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Picture 120" descr="slide_6_tech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16459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3e486e5b_0_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Multi-Threaded Runtime Architecture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4008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1F2937"/>
                </a:solidFill>
                <a:latin typeface="Arial"/>
              </a:defRPr>
            </a:pPr>
            <a:r>
              <a:t>The ScholarMaster runtime architecture spawns 5 parallel daemon threads to orchestrate edge capture, inference, verification, and logging:</a:t>
            </a:r>
            <a:br/>
            <a:br/>
            <a:r>
              <a:t>• Video Thread: Capture camera streams and run face/pose inference.</a:t>
            </a:r>
            <a:br/>
            <a:r>
              <a:t>• Audio Thread: Capture microphone stream and calculate spectral centroids.</a:t>
            </a:r>
            <a:br/>
            <a:r>
              <a:t>• Compliance Thread: Verify location data against schedule constraints.</a:t>
            </a:r>
            <a:br/>
            <a:r>
              <a:t>• Power Thread: Log CPU, memory, and thermal statuses.</a:t>
            </a:r>
            <a:br/>
            <a:r>
              <a:t>• Dashboard Thread: Refresh terminal UI console.</a:t>
            </a:r>
          </a:p>
        </p:txBody>
      </p:sp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5943600" y="182880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Thread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Face Recognition &amp; Pose extraction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Acoustic anomaly spectral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constraint timetable checking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Resource &amp; CPU thermal monitoring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Terminal status console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3e486e5b_0_3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Biometric Open-Set Identification Pipeline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b13e486e5b_0_31"/>
          <p:cNvSpPr txBox="1"/>
          <p:nvPr/>
        </p:nvSpPr>
        <p:spPr>
          <a:xfrm>
            <a:off x="640075" y="2096225"/>
            <a:ext cx="108909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InsightFace coordinates extraction → 512-dim ArcFace embedding.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FAISS IndexFlatIP similarity search.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Adaptive cosine threshold: τ(N)=τbase+αlog⁡(N) to prevent false acceptance in large galleries.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Picture 133" descr="slide_8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304" y="16459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e486e5b_0_39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Behavior and Pose Tracking Layer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3b13e486e5b_0_39"/>
          <p:cNvSpPr txBox="1"/>
          <p:nvPr/>
        </p:nvSpPr>
        <p:spPr>
          <a:xfrm>
            <a:off x="640075" y="2096225"/>
            <a:ext cx="50094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YOLOv8-pose skeleton extraction.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Mapping coordinate vectors (wrists, shoulders, elbows) for hand-raise detection.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Elimination of raw pixels at the L3 boundary: only coordinate floats pass to the logic layer.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475" y="2096225"/>
            <a:ext cx="5881501" cy="36149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3e486e5b_0_5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Acoustic Anomaly Detection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40080" y="18288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1F2937"/>
                </a:solidFill>
                <a:latin typeface="Arial"/>
              </a:defRPr>
            </a:pPr>
            <a:r>
              <a:t>The Acoustic Anomaly Detection layer provides fallback security monitoring without recording semantic speech:</a:t>
            </a:r>
            <a:br/>
            <a:br/>
            <a:r>
              <a:t>• FFT Feature Extraction: Raw audio captures converted into spectral parameters in 100ms frames.</a:t>
            </a:r>
            <a:br/>
            <a:r>
              <a:t>• Preserves Privacy: Since speech cannot be reconstructed from raw spectral features, student conversations remain private.</a:t>
            </a:r>
            <a:br/>
            <a:r>
              <a:t>• Operational Bounds: Strict thresholds are maintained during formal exams, with thresholds automatically relaxed during breaks.</a:t>
            </a:r>
          </a:p>
        </p:txBody>
      </p:sp>
      <p:pic>
        <p:nvPicPr>
          <p:cNvPr id="148" name="Picture 147" descr="slide_10_acou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45920"/>
            <a:ext cx="58521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3e486e5b_0_6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Spatiotemporal Constraint Satisfaction (ST-CSF)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g3b13e486e5b_0_63"/>
          <p:cNvSpPr txBox="1"/>
          <p:nvPr/>
        </p:nvSpPr>
        <p:spPr>
          <a:xfrm>
            <a:off x="640075" y="2096225"/>
            <a:ext cx="45015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1" marL="9144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Timetable formalization:</a:t>
            </a:r>
            <a:r>
              <a:rPr lang="en-US" sz="10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sched</a:t>
            </a:r>
            <a:r>
              <a:rPr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1"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i="1"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0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5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Evaluating student locations against expected timetable slots.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5275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Teleportation velocity check:</a:t>
            </a:r>
            <a:r>
              <a:rPr lang="en-US" sz="10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trans</a:t>
            </a:r>
            <a:r>
              <a:rPr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8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8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)/</a:t>
            </a:r>
            <a:r>
              <a:rPr i="1"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(t</a:t>
            </a:r>
            <a:r>
              <a:rPr lang="en-US" sz="18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8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r>
              <a:rPr lang="en-US" sz="15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r>
              <a:rPr lang="en-US" sz="16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prevent double-presence and location spoofing.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25" y="1656850"/>
            <a:ext cx="6950801" cy="47881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045bda6f_0_7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Backtracking Timetable Scheduler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4008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1F2937"/>
                </a:solidFill>
                <a:latin typeface="Arial"/>
              </a:defRPr>
            </a:pPr>
            <a:r>
              <a:t>Timetable scheduling is formalized as a Constraint Satisfaction Problem (CSP) to optimize resource allocation and prevent conflicts:</a:t>
            </a:r>
            <a:br/>
            <a:br/>
            <a:r>
              <a:t>• CSP Representation: Classes/courses are variables. Domains consist of Room × Time-slot permutations.</a:t>
            </a:r>
            <a:br/>
            <a:r>
              <a:t>• Heuristics Optimization: Backtracking DFS combined with Minimum Remaining Values (MRV) and Least Constraining Value (LCV) heuristics.</a:t>
            </a:r>
            <a:br/>
            <a:r>
              <a:t>• Conflict Pruning: Forward checking prunes overlapping time assignments, accelerating search from exponential to linear-logarithmic in practice.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943600" y="1828800"/>
            <a:ext cx="5577840" cy="4114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Arial"/>
              </a:defRPr>
            </a:pPr>
            <a:r>
              <a:t>CSP SCHEDULER HARD CONSTRAINTS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1. Room Capacity Constraint:</a:t>
            </a:r>
            <a:br/>
            <a:r>
              <a:t>   RoomCapacity(R_i) &gt;= StudentEnrollment(C_j)</a:t>
            </a:r>
            <a:br/>
            <a:br/>
            <a:r>
              <a:t>2. Room Non-Overlapping Constraint:</a:t>
            </a:r>
            <a:br/>
            <a:r>
              <a:t>   Room(C_a) != Room(C_b) if TimeOverlap(C_a, C_b)</a:t>
            </a:r>
            <a:br/>
            <a:br/>
            <a:r>
              <a:t>3. Faculty Double-Assignment Constraint:</a:t>
            </a:r>
            <a:br/>
            <a:r>
              <a:t>   Teacher(C_a) != Teacher(C_b) if TimeOverlap(C_a, C_b)</a:t>
            </a:r>
            <a:br/>
            <a:br/>
            <a:r>
              <a:t>4. Semester Separation Constraint:</a:t>
            </a:r>
            <a:br/>
            <a:r>
              <a:t>   Avoid same-semester core classes scheduling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a98193e_0_15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Cryptographic Trust Layer (Audit Ledger)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f15a98193e_0_152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Hash chaining:</a:t>
            </a:r>
            <a:r>
              <a:rPr lang="en-US" sz="10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=SHA256(Data</a:t>
            </a:r>
            <a:r>
              <a:rPr i="1"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∥</a:t>
            </a:r>
            <a:r>
              <a:rPr i="1"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1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US" sz="24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5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5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14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5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Merkle-linked chain of transactions appended to audit_log.csv.</a:t>
            </a:r>
            <a:endParaRPr sz="225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Atomic write loops to prevent race conditions during concurrent events.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013" y="3840480"/>
            <a:ext cx="8559024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5a98193e_0_16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Design &amp; Entity Relationships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g3f15a98193e_0_16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SQLite schema (campus.db).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entities: Student, Device, Room, Schedule, AttendanceLog, Alert.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JSON flat files used for zero-latency queue states (alerts.json, teachers.json).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5" y="3200400"/>
            <a:ext cx="10890899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5a98193e_0_16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&amp; 7-Role RBAC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f15a98193e_0_162"/>
          <p:cNvSpPr txBox="1"/>
          <p:nvPr/>
        </p:nvSpPr>
        <p:spPr>
          <a:xfrm>
            <a:off x="640075" y="2000250"/>
            <a:ext cx="58101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Streamlit Wide-Layout Application (admin_panel.py).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Menu tab isolation based on session state roles: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i="1"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Super Admin:</a:t>
            </a: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Full system access.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i="1"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Faculty:</a:t>
            </a: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Own schedule views only.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i="1"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Student:</a:t>
            </a: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Read-only schedule details.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943600" y="1645920"/>
          <a:ext cx="5577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Authorized Dashboard Tabs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All Tabs (Scheduler, Analytics, Users, Biometric Enrollment, Alert Center, Attendance Logs, Grooming)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(all departments), Biometric Enrollment, Analytics (department-filtered)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(own classes only), Attendance Review (own classes only)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Full Timetable View (read-only), Personal Attendance History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5a98193e_0_15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Verification (Pytest Suite)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15a98193e_0_15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Scope: 316 comprehensive test cases (unit, integration, contract tests).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modules verified: test_debounce_logic, test_face_registry, test_attendance_logger, test_gap_remediation.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Execution: Matplotlib local configuration (MPLBACKEND=Agg) to ensure headless test run success.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f15a98193e_0_157" title="Screenshot 2026-06-19 at 12.27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254150"/>
            <a:ext cx="10890901" cy="2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5a98193e_0_19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Open-Set Biometrics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3f15a98193e_0_195"/>
          <p:cNvSpPr txBox="1"/>
          <p:nvPr/>
        </p:nvSpPr>
        <p:spPr>
          <a:xfrm>
            <a:off x="640075" y="2000250"/>
            <a:ext cx="35163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i="1"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Achieved Metrics:</a:t>
            </a: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99.2% OSIR, 99.5% UIRR, and 0.5% OSIE.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Rejection efficiency of unregistered strangers to prevent unauthorized access.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5" name="Table 194"/>
          <p:cNvGraphicFramePr>
            <a:graphicFrameLocks noGrp="1"/>
          </p:cNvGraphicFramePr>
          <p:nvPr/>
        </p:nvGraphicFramePr>
        <p:xfrm>
          <a:off x="640080" y="201168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Target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Achieved Score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OSIR (Open-Set Identification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&gt; 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88.33%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UIRR (Unknown Identity Rejection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&gt; 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OSIE (Open-Set Identification Error)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&lt; 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System Latency (Mean frame inference)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&lt; 65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59.23 ms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6" name="Picture 195" descr="slide_17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45920"/>
            <a:ext cx="5394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5a98193e_0_190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Attendance Compliance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g3f15a98193e_0_190"/>
          <p:cNvSpPr txBox="1"/>
          <p:nvPr/>
        </p:nvSpPr>
        <p:spPr>
          <a:xfrm>
            <a:off x="640075" y="2000250"/>
            <a:ext cx="36087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Sensitivity: 98.2%.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Precision: 97.5%.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F1-Score: 97.8% on truancy detection.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30-second temporal debounce filter reduces false alerts by 85%.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Picture 201" descr="slide_18_compli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45920"/>
            <a:ext cx="6949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a98193e_0_18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Scalability Analysis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g3f15a98193e_0_185"/>
          <p:cNvSpPr txBox="1"/>
          <p:nvPr/>
        </p:nvSpPr>
        <p:spPr>
          <a:xfrm>
            <a:off x="640075" y="2000250"/>
            <a:ext cx="39627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Memory footprint: 2 KB per student embedding.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100k students gallery requires ~200MB memory.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Search latency: Flat KNN index vs. IVF-PQ index scaling curves.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Picture 208" descr="slide_19_scal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828800"/>
            <a:ext cx="69494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5a98193e_0_204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GDPR Compliance Mapping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g3f15a98193e_0_204"/>
          <p:cNvSpPr txBox="1"/>
          <p:nvPr/>
        </p:nvSpPr>
        <p:spPr>
          <a:xfrm>
            <a:off x="640075" y="2000250"/>
            <a:ext cx="40704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Article 5(1)(c) (Data Minimization) → 33ms volatile TTL boundary.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Article 17 (Right to Erasure) → Cascading DB delete of biometric keys.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Article 25 (Privacy by Design) → Concentric Onion architecture.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Picture 2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475" y="1656850"/>
            <a:ext cx="6958125" cy="48855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5a98193e_0_2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&amp; Challenges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g3f15a98193e_0_215"/>
          <p:cNvSpPr txBox="1"/>
          <p:nvPr/>
        </p:nvSpPr>
        <p:spPr>
          <a:xfrm>
            <a:off x="640075" y="2000250"/>
            <a:ext cx="40860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Sensitivities to classroom lighting variations.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Single-camera occlusions (hidden students).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Platform restriction: Validated primarily on macOS Apple Silicon hardware architectures.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3" name="Picture 2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350" y="1809250"/>
            <a:ext cx="6854625" cy="4425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15a98193e_0_2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KEY SYSTEM CONCLUSIONS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Resolved Privacy-Utility Conflict:</a:t>
            </a:r>
            <a:br/>
            <a:r>
              <a:t>  Demonstrated real-time presence audit without persistent biometric records.</a:t>
            </a:r>
            <a:br/>
            <a:br/>
            <a:r>
              <a:t>• Strict GDPR Compliance:</a:t>
            </a:r>
            <a:br/>
            <a:r>
              <a:t>  Validates Article 25 (Privacy-by-Design) and Article 17 (Right-to-Erasure) boundaries.</a:t>
            </a:r>
            <a:br/>
            <a:br/>
            <a:r>
              <a:t>• High Accuracy Open-Set Biometrics:</a:t>
            </a:r>
            <a:br/>
            <a:r>
              <a:t>  Achieved 88.33% OSIR and 100.0% UIRR on stranger detection.</a:t>
            </a:r>
            <a:br/>
            <a:br/>
            <a:r>
              <a:t>• Zero-Latency Local Performance:</a:t>
            </a:r>
            <a:br/>
            <a:r>
              <a:t>  Sub-60ms mean frame inference allows robust local deployment at the edge.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FUTURE WORK &amp; EXTENSIONS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Edge Model Quantization:</a:t>
            </a:r>
            <a:br/>
            <a:r>
              <a:t>  INT8 quantization and ONNX weight pruning for cheap microcontrollers.</a:t>
            </a:r>
            <a:br/>
            <a:br/>
            <a:r>
              <a:t>• Distributed Ledger Decentralization:</a:t>
            </a:r>
            <a:br/>
            <a:r>
              <a:t>  Blockchain integration to log Merkle tree root hashes securely.</a:t>
            </a:r>
            <a:br/>
            <a:br/>
            <a:r>
              <a:t>• Sensor Fusion Enhancement:</a:t>
            </a:r>
            <a:br/>
            <a:r>
              <a:t>  Adding multi-camera spatial fusion to resolve person-person occlusion.</a:t>
            </a:r>
            <a:br/>
            <a:br/>
            <a:r>
              <a:t>• Broad Integration:</a:t>
            </a:r>
            <a:br/>
            <a:r>
              <a:t>  Connecting directly to university ERP systems and mobile alert notification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p22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6" name="Google Shape;236;p22"/>
          <p:cNvSpPr txBox="1"/>
          <p:nvPr>
            <p:ph type="title"/>
          </p:nvPr>
        </p:nvSpPr>
        <p:spPr>
          <a:xfrm>
            <a:off x="640080" y="1302091"/>
            <a:ext cx="3291840" cy="277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THANK YOU</a:t>
            </a:r>
            <a:endParaRPr/>
          </a:p>
        </p:txBody>
      </p:sp>
      <p:cxnSp>
        <p:nvCxnSpPr>
          <p:cNvPr id="237" name="Google Shape;237;p22"/>
          <p:cNvCxnSpPr/>
          <p:nvPr/>
        </p:nvCxnSpPr>
        <p:spPr>
          <a:xfrm>
            <a:off x="713232" y="4459606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Rounded Rectangle 237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2025-07-19T04:09:48Z</dcterms:created>
  <dc:creator>tpk KUMAR</dc:creator>
</cp:coreProperties>
</file>