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4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Attendance Automation: Edge biometric sensing eliminates manual register errors and proxy swipes.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Decentralized Security: Secure local template matching without persistent central databases.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Temporal Auditing: Real-time spatiotemporal presence compliance verification.</a:t>
            </a:r>
          </a:p>
        </p:txBody>
      </p:sp>
      <p:pic>
        <p:nvPicPr>
          <p:cNvPr id="100" name="Picture 99" descr="slide_3_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Existing System: RFID proxy swipes and manual registers allow buddy punching and data leakage.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Proposed System: Real-time biometric checks secured by ST-CSF schedule constraints and Merkle audit ledgers.</a:t>
            </a:r>
          </a:p>
        </p:txBody>
      </p:sp>
      <p:pic>
        <p:nvPicPr>
          <p:cNvPr id="107" name="Picture 106" descr="slide_4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560320"/>
            <a:ext cx="10881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Multi-Layered Protection: 8 concentric isolation layers partition raw sensors from presentation frameworks.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Irreversible Privacy Boundary: Layer 3 (RAM Cache with 33ms TTL) ensures raw biometric data is never persistently stored.</a:t>
            </a:r>
          </a:p>
        </p:txBody>
      </p:sp>
      <p:pic>
        <p:nvPicPr>
          <p:cNvPr id="115" name="Picture 114" descr="slide_5_on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286000"/>
            <a:ext cx="10881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Structured Architecture: Replaces uncoordinated components with a strict layered technology pipeline.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Layered Operations: Ensures logical flow from raw hardware sensors up to the client presentation interface.</a:t>
            </a:r>
          </a:p>
        </p:txBody>
      </p:sp>
      <p:pic>
        <p:nvPicPr>
          <p:cNvPr id="122" name="Picture 121" descr="slide_6_tech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68880"/>
            <a:ext cx="10881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4008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50">
                <a:solidFill>
                  <a:srgbClr val="374151"/>
                </a:solidFill>
                <a:latin typeface="Arial"/>
              </a:defRPr>
            </a:pPr>
            <a:r>
              <a:t>The ScholarMaster runtime architecture spawns 5 parallel daemon threads to orchestrate edge capture, inference, verification, and logging:</a:t>
            </a:r>
            <a:br/>
            <a:br/>
            <a:r>
              <a:t>• Video Thread: Capture camera streams and run face/pose inference.</a:t>
            </a:r>
            <a:br/>
            <a:r>
              <a:t>• Audio Thread: Capture microphone stream and calculate spectral centroids.</a:t>
            </a:r>
            <a:br/>
            <a:r>
              <a:t>• Compliance Thread: Verify location data against schedule constraints.</a:t>
            </a:r>
            <a:br/>
            <a:r>
              <a:t>• Power Thread: Log CPU, memory, and thermal statuses.</a:t>
            </a:r>
            <a:br/>
            <a:r>
              <a:t>• Dashboard Thread: Refresh terminal UI console.</a:t>
            </a: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5943600" y="182880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6858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Biometric Search Chain: Raw video frames are detected, aligned, and converted to 512-dimensional embeddings.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Sub-Millisecond Queries: FAISS vector indices perform nearest-neighbor searches against adaptive cosine thresholds.</a:t>
            </a:r>
          </a:p>
        </p:txBody>
      </p:sp>
      <p:pic>
        <p:nvPicPr>
          <p:cNvPr id="134" name="Picture 133" descr="slide_8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560320"/>
            <a:ext cx="10881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slide_9_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Timetable Schedule Constraint: Maps student and time to expected sensor location to flag anomalous presences.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Velocity Teleportation Check: Computes physical transition speed between logs to block proxy attendance.</a:t>
            </a:r>
          </a:p>
        </p:txBody>
      </p:sp>
      <p:pic>
        <p:nvPicPr>
          <p:cNvPr id="154" name="Picture 153" descr="slide_11_stc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Cryptographic Linkage: Hashed ledger blocks are chained recursively to prevent backward-modification attacks.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Append-Only Log: Attendance and alert logs are serialized and written atomically to Merkle audit CSV logs.</a:t>
            </a:r>
          </a:p>
        </p:txBody>
      </p:sp>
      <p:pic>
        <p:nvPicPr>
          <p:cNvPr id="167" name="Picture 166" descr="slide_13_led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SQLite Relational Database (campus.db): Local relational storage on edge nodes ensures sub-millisecond query latency.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Foreign Key Constraints: Strict relational integrity between Student, Room, Schedule, and Attendance log entities.</a:t>
            </a:r>
          </a:p>
        </p:txBody>
      </p:sp>
      <p:pic>
        <p:nvPicPr>
          <p:cNvPr id="174" name="Picture 173" descr="slide_14_e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Presentation Framework:</a:t>
            </a:r>
            <a:br/>
            <a:r>
              <a:t>  Built with Streamlit and Plotly Express for real-time administrative access.</a:t>
            </a:r>
            <a:br/>
            <a:br/>
            <a:r>
              <a:t>• Tab Isolation Logic:</a:t>
            </a:r>
            <a:br/>
            <a:r>
              <a:t>  Uses SQLite session state checks to enforce strict role-based access.</a:t>
            </a:r>
            <a:br/>
            <a:br/>
            <a:r>
              <a:t>• 7-Role RBAC Model:</a:t>
            </a:r>
            <a:br/>
            <a:r>
              <a:t>  Restricts page controls based on Super Admin, HOD, Faculty, and Student credentials.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Authorized Dashboard Tabs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All Tabs (Scheduler, Analytics, Users, Biometric Enrollment, Alert Center, Attendance Logs, Grooming)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(all departments), Biometric Enrollment, Analytics (department-filtered)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(own classes only), Attendance Review (own classes only)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Full Timetable View (read-only), Personal Attendance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Open-Set Verification: FAISS HNSW vector index query matching against adaptive cosine similarity threshold.</a:t>
            </a:r>
            <a:br/>
            <a:r>
              <a:t>• Strangers Rejection: Rejects unregistered identities with 100% efficiency to prevent unauthorized access.</a:t>
            </a:r>
          </a:p>
        </p:txBody>
      </p:sp>
      <p:graphicFrame>
        <p:nvGraphicFramePr>
          <p:cNvPr id="195" name="Table 194"/>
          <p:cNvGraphicFramePr>
            <a:graphicFrameLocks noGrp="1"/>
          </p:cNvGraphicFramePr>
          <p:nvPr/>
        </p:nvGraphicFramePr>
        <p:xfrm>
          <a:off x="640080" y="228600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Target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Achieved Score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OSIR (Open-Set Identification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&gt; 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88.33%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UIRR (Unknown Identity Rejection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&gt; 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OSIE (Open-Set Identification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&lt; 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System Latency (Mean frame inference)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&lt; 65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59.23 ms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645920"/>
            <a:ext cx="5577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459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scales logarithmically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Regulatory Compliance: Legal mapping of GDPR biometric constraints to software mechanisms.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Right to Erasure: Cascading deletions purge registration indexes and log databases of biometric keys.</a:t>
            </a:r>
          </a:p>
        </p:txBody>
      </p:sp>
      <p:pic>
        <p:nvPicPr>
          <p:cNvPr id="216" name="Picture 215" descr="slide_20_gd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Sensing Occlusions: Student head rotations and perspective distortions can degrade recognition accuracy.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Multi-Modal Fallbacks: Integrated acoustic tracking and spatiotemporal schedule checks mitigate visual blindspots.</a:t>
            </a:r>
          </a:p>
        </p:txBody>
      </p:sp>
      <p:pic>
        <p:nvPicPr>
          <p:cNvPr id="223" name="Picture 222" descr="slide_21_occl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Broad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22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cxnSp>
        <p:nvCxnSpPr>
          <p:cNvPr id="237" name="Google Shape;237;p22"/>
          <p:cNvCxnSpPr/>
          <p:nvPr/>
        </p:nvCxnSpPr>
        <p:spPr>
          <a:xfrm>
            <a:off x="713232" y="4459606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