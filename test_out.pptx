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79" r:id="rId40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Play"/>
      <p:regular r:id="rId33"/>
      <p:bold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SGeqNWgXGjYiLDFhUaRRA2mGD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89B49A-8ABB-4894-AD29-65B719E2D82E}">
  <a:tblStyle styleId="{F289B49A-8ABB-4894-AD29-65B719E2D82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font" Target="fonts/Raleway-regular.fntdata"/><Relationship Id="rId30" Type="http://schemas.openxmlformats.org/officeDocument/2006/relationships/font" Target="fonts/Raleway-bold.fntdata"/><Relationship Id="rId31" Type="http://schemas.openxmlformats.org/officeDocument/2006/relationships/font" Target="fonts/Raleway-italic.fntdata"/><Relationship Id="rId32" Type="http://schemas.openxmlformats.org/officeDocument/2006/relationships/font" Target="fonts/Raleway-boldItalic.fntdata"/><Relationship Id="rId33" Type="http://schemas.openxmlformats.org/officeDocument/2006/relationships/font" Target="fonts/Play-regular.fntdata"/><Relationship Id="rId34" Type="http://schemas.openxmlformats.org/officeDocument/2006/relationships/font" Target="fonts/Play-bold.fntdata"/><Relationship Id="rId35" Type="http://schemas.openxmlformats.org/officeDocument/2006/relationships/font" Target="fonts/Lato-regular.fntdata"/><Relationship Id="rId36" Type="http://schemas.openxmlformats.org/officeDocument/2006/relationships/font" Target="fonts/Lato-bold.fntdata"/><Relationship Id="rId37" Type="http://schemas.openxmlformats.org/officeDocument/2006/relationships/font" Target="fonts/Lato-italic.fntdata"/><Relationship Id="rId38" Type="http://schemas.openxmlformats.org/officeDocument/2006/relationships/font" Target="fonts/Lato-boldItalic.fntdata"/><Relationship Id="rId39" Type="http://customschemas.google.com/relationships/presentationmetadata" Target="metadata"/><Relationship Id="rId4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6045bda6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a6045bda6f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6045bda6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a6045bda6f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13e486e5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b13e486e5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13e486e5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b13e486e5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3e486e5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b13e486e5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13e486e5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b13e486e5b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13e486e5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b13e486e5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13e486e5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b13e486e5b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13e486e5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b13e486e5b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6045bda6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a6045bda6f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15a98193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f15a98193e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5a98193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f15a98193e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15a98193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f15a98193e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15a98193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f15a98193e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15a98193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f15a98193e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15a98193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f15a98193e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15a98193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f15a98193e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15a98193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f15a98193e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15a98193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f15a98193e_0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15a98193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f15a98193e_0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6045bda6f_0_14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6045bda6f_0_147"/>
          <p:cNvSpPr txBox="1"/>
          <p:nvPr>
            <p:ph type="title"/>
          </p:nvPr>
        </p:nvSpPr>
        <p:spPr>
          <a:xfrm>
            <a:off x="640079" y="1371601"/>
            <a:ext cx="10890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" name="Google Shape;13;g3a6045bda6f_0_147"/>
          <p:cNvSpPr txBox="1"/>
          <p:nvPr>
            <p:ph idx="1" type="body"/>
          </p:nvPr>
        </p:nvSpPr>
        <p:spPr>
          <a:xfrm>
            <a:off x="640080" y="2633472"/>
            <a:ext cx="108909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1pPr>
            <a:lvl2pPr indent="-328041" lvl="1" marL="9144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2pPr>
            <a:lvl3pPr indent="-328041" lvl="2" marL="13716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■"/>
              <a:defRPr/>
            </a:lvl3pPr>
            <a:lvl4pPr indent="-328041" lvl="3" marL="18288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4pPr>
            <a:lvl5pPr indent="-328041" lvl="4" marL="22860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4" name="Google Shape;14;g3a6045bda6f_0_147"/>
          <p:cNvSpPr txBox="1"/>
          <p:nvPr>
            <p:ph idx="10" type="dt"/>
          </p:nvPr>
        </p:nvSpPr>
        <p:spPr>
          <a:xfrm>
            <a:off x="64008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a6045bda6f_0_147"/>
          <p:cNvSpPr txBox="1"/>
          <p:nvPr>
            <p:ph idx="11" type="ftr"/>
          </p:nvPr>
        </p:nvSpPr>
        <p:spPr>
          <a:xfrm>
            <a:off x="6767622" y="6356350"/>
            <a:ext cx="4040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a6045bda6f_0_147"/>
          <p:cNvSpPr txBox="1"/>
          <p:nvPr>
            <p:ph idx="12" type="sldNum"/>
          </p:nvPr>
        </p:nvSpPr>
        <p:spPr>
          <a:xfrm>
            <a:off x="10807995" y="6356350"/>
            <a:ext cx="7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g3a6045bda6f_0_88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g3a6045bda6f_0_88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g3a6045bda6f_0_8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g3a6045bda6f_0_88"/>
          <p:cNvSpPr txBox="1"/>
          <p:nvPr>
            <p:ph type="ctrTitle"/>
          </p:nvPr>
        </p:nvSpPr>
        <p:spPr>
          <a:xfrm>
            <a:off x="3162300" y="840300"/>
            <a:ext cx="84420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a6045bda6f_0_88"/>
          <p:cNvSpPr txBox="1"/>
          <p:nvPr>
            <p:ph idx="1" type="subTitle"/>
          </p:nvPr>
        </p:nvSpPr>
        <p:spPr>
          <a:xfrm>
            <a:off x="3187022" y="4317933"/>
            <a:ext cx="8442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g3a6045bda6f_0_8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g3a6045bda6f_0_95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g3a6045bda6f_0_95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a6045bda6f_0_95"/>
          <p:cNvSpPr txBox="1"/>
          <p:nvPr>
            <p:ph type="title"/>
          </p:nvPr>
        </p:nvSpPr>
        <p:spPr>
          <a:xfrm>
            <a:off x="541900" y="2409100"/>
            <a:ext cx="110625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g3a6045bda6f_0_9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g3a6045bda6f_0_100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g3a6045bda6f_0_100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g3a6045bda6f_0_100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g3a6045bda6f_0_100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4" name="Google Shape;34;g3a6045bda6f_0_100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5" name="Google Shape;35;g3a6045bda6f_0_100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g3a6045bda6f_0_107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g3a6045bda6f_0_107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g3a6045bda6f_0_107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g3a6045bda6f_0_107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1" name="Google Shape;41;g3a6045bda6f_0_107"/>
          <p:cNvSpPr txBox="1"/>
          <p:nvPr>
            <p:ph idx="1" type="body"/>
          </p:nvPr>
        </p:nvSpPr>
        <p:spPr>
          <a:xfrm>
            <a:off x="3200403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a6045bda6f_0_107"/>
          <p:cNvSpPr txBox="1"/>
          <p:nvPr>
            <p:ph idx="2" type="body"/>
          </p:nvPr>
        </p:nvSpPr>
        <p:spPr>
          <a:xfrm>
            <a:off x="7534096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" name="Google Shape;43;g3a6045bda6f_0_10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6045bda6f_0_115"/>
          <p:cNvSpPr txBox="1"/>
          <p:nvPr>
            <p:ph type="title"/>
          </p:nvPr>
        </p:nvSpPr>
        <p:spPr>
          <a:xfrm>
            <a:off x="404400" y="548767"/>
            <a:ext cx="113607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6" name="Google Shape;46;g3a6045bda6f_0_11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g3a6045bda6f_0_11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g3a6045bda6f_0_118"/>
          <p:cNvSpPr txBox="1"/>
          <p:nvPr>
            <p:ph type="title"/>
          </p:nvPr>
        </p:nvSpPr>
        <p:spPr>
          <a:xfrm>
            <a:off x="426000" y="1248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0" name="Google Shape;50;g3a6045bda6f_0_118"/>
          <p:cNvSpPr txBox="1"/>
          <p:nvPr>
            <p:ph idx="1" type="body"/>
          </p:nvPr>
        </p:nvSpPr>
        <p:spPr>
          <a:xfrm>
            <a:off x="426000" y="2462405"/>
            <a:ext cx="3744000" cy="3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1" name="Google Shape;51;g3a6045bda6f_0_11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g3a6045bda6f_0_123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g3a6045bda6f_0_123"/>
          <p:cNvSpPr txBox="1"/>
          <p:nvPr>
            <p:ph type="title"/>
          </p:nvPr>
        </p:nvSpPr>
        <p:spPr>
          <a:xfrm>
            <a:off x="377471" y="949521"/>
            <a:ext cx="8325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a6045bda6f_0_123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045bda6f_0_127"/>
          <p:cNvSpPr/>
          <p:nvPr/>
        </p:nvSpPr>
        <p:spPr>
          <a:xfrm>
            <a:off x="6096000" y="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g3a6045bda6f_0_127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g3a6045bda6f_0_127"/>
          <p:cNvSpPr txBox="1"/>
          <p:nvPr>
            <p:ph type="title"/>
          </p:nvPr>
        </p:nvSpPr>
        <p:spPr>
          <a:xfrm>
            <a:off x="354000" y="1863133"/>
            <a:ext cx="5393700" cy="17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g3a6045bda6f_0_127"/>
          <p:cNvSpPr txBox="1"/>
          <p:nvPr>
            <p:ph idx="1" type="subTitle"/>
          </p:nvPr>
        </p:nvSpPr>
        <p:spPr>
          <a:xfrm>
            <a:off x="354000" y="3647161"/>
            <a:ext cx="53937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g3a6045bda6f_0_127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g3a6045bda6f_0_12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g3a6045bda6f_0_134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g3a6045bda6f_0_134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g3a6045bda6f_0_134"/>
          <p:cNvSpPr txBox="1"/>
          <p:nvPr>
            <p:ph idx="1" type="body"/>
          </p:nvPr>
        </p:nvSpPr>
        <p:spPr>
          <a:xfrm>
            <a:off x="437356" y="5634700"/>
            <a:ext cx="111849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7" name="Google Shape;67;g3a6045bda6f_0_13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g3a6045bda6f_0_139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g3a6045bda6f_0_139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g3a6045bda6f_0_139"/>
          <p:cNvSpPr txBox="1"/>
          <p:nvPr>
            <p:ph hasCustomPrompt="1" type="title"/>
          </p:nvPr>
        </p:nvSpPr>
        <p:spPr>
          <a:xfrm>
            <a:off x="1138600" y="1739800"/>
            <a:ext cx="99147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g3a6045bda6f_0_139"/>
          <p:cNvSpPr txBox="1"/>
          <p:nvPr>
            <p:ph idx="1" type="body"/>
          </p:nvPr>
        </p:nvSpPr>
        <p:spPr>
          <a:xfrm>
            <a:off x="1138600" y="3892600"/>
            <a:ext cx="9914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73" name="Google Shape;73;g3a6045bda6f_0_139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6045bda6f_0_84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a6045bda6f_0_84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a6045bda6f_0_8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0.png"/><Relationship Id="rId5" Type="http://schemas.openxmlformats.org/officeDocument/2006/relationships/image" Target="../media/image3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1.png"/><Relationship Id="rId5" Type="http://schemas.openxmlformats.org/officeDocument/2006/relationships/image" Target="../media/image32.png"/><Relationship Id="rId6" Type="http://schemas.openxmlformats.org/officeDocument/2006/relationships/image" Target="../media/image40.png"/><Relationship Id="rId7" Type="http://schemas.openxmlformats.org/officeDocument/2006/relationships/image" Target="../media/image5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22.png"/><Relationship Id="rId5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42.png"/><Relationship Id="rId5" Type="http://schemas.openxmlformats.org/officeDocument/2006/relationships/image" Target="../media/image5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23.png"/><Relationship Id="rId5" Type="http://schemas.openxmlformats.org/officeDocument/2006/relationships/image" Target="../media/image34.png"/><Relationship Id="rId6" Type="http://schemas.openxmlformats.org/officeDocument/2006/relationships/image" Target="../media/image43.png"/><Relationship Id="rId7" Type="http://schemas.openxmlformats.org/officeDocument/2006/relationships/image" Target="../media/image5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24.png"/><Relationship Id="rId5" Type="http://schemas.openxmlformats.org/officeDocument/2006/relationships/image" Target="../media/image4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25.png"/><Relationship Id="rId5" Type="http://schemas.openxmlformats.org/officeDocument/2006/relationships/image" Target="../media/image4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26.png"/><Relationship Id="rId5" Type="http://schemas.openxmlformats.org/officeDocument/2006/relationships/image" Target="../media/image4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27.png"/><Relationship Id="rId5" Type="http://schemas.openxmlformats.org/officeDocument/2006/relationships/image" Target="../media/image47.png"/><Relationship Id="rId6" Type="http://schemas.openxmlformats.org/officeDocument/2006/relationships/image" Target="../media/image5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36.png"/><Relationship Id="rId5" Type="http://schemas.openxmlformats.org/officeDocument/2006/relationships/image" Target="../media/image5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Relationship Id="rId4" Type="http://schemas.openxmlformats.org/officeDocument/2006/relationships/image" Target="../media/image28.png"/><Relationship Id="rId5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Relationship Id="rId4" Type="http://schemas.openxmlformats.org/officeDocument/2006/relationships/image" Target="../media/image29.png"/><Relationship Id="rId5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30.png"/><Relationship Id="rId5" Type="http://schemas.openxmlformats.org/officeDocument/2006/relationships/image" Target="../media/image4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Relationship Id="rId4" Type="http://schemas.openxmlformats.org/officeDocument/2006/relationships/image" Target="../media/image31.png"/><Relationship Id="rId5" Type="http://schemas.openxmlformats.org/officeDocument/2006/relationships/image" Target="../media/image4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290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4267200" y="1648919"/>
            <a:ext cx="3816616" cy="3479228"/>
          </a:xfrm>
          <a:custGeom>
            <a:rect b="b" l="l" r="r" t="t"/>
            <a:pathLst>
              <a:path extrusionOk="0" h="6601704" w="7169883">
                <a:moveTo>
                  <a:pt x="0" y="0"/>
                </a:moveTo>
                <a:lnTo>
                  <a:pt x="7169883" y="0"/>
                </a:lnTo>
                <a:lnTo>
                  <a:pt x="7169883" y="6601704"/>
                </a:lnTo>
                <a:lnTo>
                  <a:pt x="0" y="66017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2125518" y="2110647"/>
            <a:ext cx="8100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BEYOND THE PRIVACY-UTILITY TRADE-OFF: A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SPATIOTEMPORAL-CONSTRAINT AND SECURE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CAMPUS MONITORING SYSTEM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1828800" y="429320"/>
            <a:ext cx="87630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36C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SWARNANDHRA COLLEGE OF ENGINEERING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2045957" y="1039125"/>
            <a:ext cx="8100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3019492" y="1657043"/>
            <a:ext cx="63816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PROJECT REVIEW PRESENTATION 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3746826" y="3849616"/>
            <a:ext cx="45720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3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75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NARENDRA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 24A21D5827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 M. Tech (CSE)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3586925" y="5220325"/>
            <a:ext cx="4891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>
                <a:solidFill>
                  <a:srgbClr val="FFFFFF"/>
                </a:solidFill>
                <a:latin typeface="Times New Roman"/>
              </a:defRPr>
            </a:pPr>
            <a:r>
              <a:t>Under the Guidance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>
                <a:solidFill>
                  <a:srgbClr val="FFDF08"/>
                </a:solidFill>
                <a:latin typeface="Times New Roman"/>
              </a:rPr>
              <a:t>Dr. S. Suresh Kumar, M.Tech, Ph.D, PDF</a:t>
            </a:r>
            <a:endParaRPr b="1" i="0" sz="2000" u="none" cap="none" strike="noStrike">
              <a:solidFill>
                <a:srgbClr val="FFDF0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93B3D7"/>
                </a:solidFill>
                <a:latin typeface="Times New Roman"/>
              </a:rPr>
              <a:t>Professor &amp; Principal, Dept. of CSE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1805975" y="227095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Privacy-Utility Conflict:</a:t>
            </a:r>
            <a:br/>
            <a:r>
              <a:t>  Automating attendance and safety checks without storing high-risk permanent biometric databases.</a:t>
            </a:r>
            <a:br/>
            <a:br/>
            <a:r>
              <a:t>• GDPR Liabilities:</a:t>
            </a:r>
            <a:br/>
            <a:r>
              <a:t>  Central databases face severe leak risks and violate GDPR Article 25 (Privacy-by-Design).</a:t>
            </a:r>
            <a:br/>
            <a:br/>
            <a:r>
              <a:t>• Edge Mitigations:</a:t>
            </a:r>
            <a:br/>
            <a:r>
              <a:t>  Resolved via edge vector templates and 33ms volatile RAM cache buffers.</a:t>
            </a:r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6045bda6f_0_4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Motivation &amp; Objectives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Core pillars of the system: edge automation, GDPR privacy, and cryptographic auditing.</a:t>
            </a:r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045bda6f_0_6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Existing vs. Proposed System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Contrasting the high-risk manual RFID roll-call flow with the proposed secure edge-to-ledger sensing pipeline.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3e486e5b_0_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Concentric Onion Architecture (Design)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Multi-layered boundary isolation protecting raw sensor capture from Streamlit presentation layers.</a:t>
            </a:r>
          </a:p>
        </p:txBody>
      </p:sp>
      <p:pic>
        <p:nvPicPr>
          <p:cNvPr id="115" name="Picture 1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13e486e5b_0_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Layered technology pipeline mapping structural dependencies from raw sensors up to administrative UI panels.</a:t>
            </a:r>
          </a:p>
        </p:txBody>
      </p:sp>
      <p:pic>
        <p:nvPicPr>
          <p:cNvPr id="122" name="Picture 1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3e486e5b_0_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Multi-Threaded Runtime Architecture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Picture 1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5852160" cy="4572000"/>
          </a:xfrm>
          <a:prstGeom prst="rect">
            <a:avLst/>
          </a:prstGeom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6583680" y="1828800"/>
          <a:ext cx="4937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Thread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Core Function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30 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Face Recognition &amp; Pose extraction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Acoustic anomaly spectral analysis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5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ST-CSF constraint timetable checking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Resource &amp; CPU thermal monitoring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Terminal status console updates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13e486e5b_0_3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Biometric Open-Set Identification Pipeline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Biometric search chain utilizing local YOLOv8-Face detection and FAISS nearest-neighbor matching.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3e486e5b_0_39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Behavior and Pose Tracking Layer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YOLOv8-pose Ingest:</a:t>
            </a:r>
            <a:br/>
            <a:r>
              <a:t>  Extracts 17 human skeleton keypoints locally in real-time.</a:t>
            </a:r>
            <a:br/>
            <a:br/>
            <a:r>
              <a:t>• Joint Coordinate Vectors:</a:t>
            </a:r>
            <a:br/>
            <a:r>
              <a:t>  Tracks Shoulder-Elbow (V1) and Elbow-Wrist (V2) vectors.</a:t>
            </a:r>
            <a:br/>
            <a:br/>
            <a:r>
              <a:t>• Hand-Raise Trigger:</a:t>
            </a:r>
            <a:br/>
            <a:r>
              <a:t>  Detects hand raising when wrist Y is below shoulder Y and joint angle exceeds 140°.</a:t>
            </a:r>
          </a:p>
        </p:txBody>
      </p:sp>
      <p:pic>
        <p:nvPicPr>
          <p:cNvPr id="141" name="Picture 1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13e486e5b_0_5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Acoustic Anomaly Detection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Environment Sampling:</a:t>
            </a:r>
            <a:br/>
            <a:r>
              <a:t>  Monitors classroom noise levels in 100ms frames via Fast Fourier Transform (FFT).</a:t>
            </a:r>
            <a:br/>
            <a:br/>
            <a:r>
              <a:t>• Privacy Preservation:</a:t>
            </a:r>
            <a:br/>
            <a:r>
              <a:t>  Calculates non-semantic parameters (Centroid, ZCR, Flux) preventing voice reconstruction.</a:t>
            </a:r>
            <a:br/>
            <a:br/>
            <a:r>
              <a:t>• Context-Aware Limits:</a:t>
            </a:r>
            <a:br/>
            <a:r>
              <a:t>  Strict thresholds during exams, automatically relaxed during normal class breaks.</a:t>
            </a:r>
          </a:p>
        </p:txBody>
      </p:sp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13e486e5b_0_6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Spatiotemporal Constraint Satisfaction (ST-CSF)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Timetable constraints and transition speed limits verifying physical student presence locations.</a:t>
            </a:r>
          </a:p>
        </p:txBody>
      </p:sp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6045bda6f_0_7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Backtracking Timetable Scheduler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CSP Formalization:</a:t>
            </a:r>
            <a:br/>
            <a:r>
              <a:t>  Courses represent variables; domains represent Room × Time-slots.</a:t>
            </a:r>
            <a:br/>
            <a:br/>
            <a:r>
              <a:t>• Heuristics Pruning:</a:t>
            </a:r>
            <a:br/>
            <a:r>
              <a:t>  Uses Minimum-Remaining-Values (MRV) and Least-Constraining-Value (LCV).</a:t>
            </a:r>
            <a:br/>
            <a:br/>
            <a:r>
              <a:t>• Conflict Free:</a:t>
            </a:r>
            <a:br/>
            <a:r>
              <a:t>  Forward checking prunes overlaps, accelerating timetabling search.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486400" y="1828800"/>
            <a:ext cx="6035040" cy="4114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Arial"/>
              </a:defRPr>
            </a:pPr>
            <a:r>
              <a:t>CSP SCHEDULER HARD CONSTRAINTS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1. Room Capacity Constraint:</a:t>
            </a:r>
            <a:br/>
            <a:r>
              <a:t>   RoomCapacity(R_i) &gt;= StudentEnrollment(C_j)</a:t>
            </a:r>
            <a:br/>
            <a:br/>
            <a:r>
              <a:t>2. Room Non-Overlapping Constraint:</a:t>
            </a:r>
            <a:br/>
            <a:r>
              <a:t>   Room(C_a) != Room(C_b) if TimeOverlap(C_a, C_b)</a:t>
            </a:r>
            <a:br/>
            <a:br/>
            <a:r>
              <a:t>3. Faculty Double-Assignment Constraint:</a:t>
            </a:r>
            <a:br/>
            <a:r>
              <a:t>   Teacher(C_a) != Teacher(C_b) if TimeOverlap(C_a, C_b)</a:t>
            </a:r>
            <a:br/>
            <a:br/>
            <a:r>
              <a:t>4. Semester Separation Constraint:</a:t>
            </a:r>
            <a:br/>
            <a:r>
              <a:t>   Avoid same-semester core classes scheduling overlap.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5a98193e_0_15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Cryptographic Trust Layer (Audit Ledger)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Securing transaction logs by recursively hashing blocks to block backward database attacks.</a:t>
            </a:r>
          </a:p>
        </p:txBody>
      </p:sp>
      <p:pic>
        <p:nvPicPr>
          <p:cNvPr id="167" name="Picture 16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15a98193e_0_16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Database Design &amp; Entity Relationships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Local SQLite ER diagram detailing primary/foreign key connections and relationship cardinalities.</a:t>
            </a:r>
          </a:p>
        </p:txBody>
      </p:sp>
      <p:pic>
        <p:nvPicPr>
          <p:cNvPr id="174" name="Picture 17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15a98193e_0_16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Presentation Layer &amp; 7-Role RBAC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Presentation Framework:</a:t>
            </a:r>
            <a:br/>
            <a:r>
              <a:t>  Built with Streamlit and Plotly Express for real-time administrative access.</a:t>
            </a:r>
            <a:br/>
            <a:br/>
            <a:r>
              <a:t>• Tab Isolation Logic:</a:t>
            </a:r>
            <a:br/>
            <a:r>
              <a:t>  Uses SQLite session state checks to enforce strict role-based access.</a:t>
            </a:r>
            <a:br/>
            <a:br/>
            <a:r>
              <a:t>• 7-Role RBAC Model:</a:t>
            </a:r>
            <a:br/>
            <a:r>
              <a:t>  Restricts page controls based on Super Admin, HOD, Faculty, and Student credentials.</a:t>
            </a:r>
          </a:p>
        </p:txBody>
      </p:sp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5486400" y="1645920"/>
          <a:ext cx="60350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</a:tblGrid>
              <a:tr h="9144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Authorized Dashboard Tabs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Super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All Tabs (Scheduler, Analytics, Users, Biometric Enrollment, Alert Center, Attendance Logs, Grooming)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Timetable View (all departments), Biometric Enrollment, Analytics (department-filtered)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Timetable View (own classes only), Attendance Review (own classes only)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Full Timetable View (read-only), Personal Attendance History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15a98193e_0_15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Implementation Verification (Pytest Suite)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f15a98193e_0_157"/>
          <p:cNvSpPr txBox="1"/>
          <p:nvPr/>
        </p:nvSpPr>
        <p:spPr>
          <a:xfrm>
            <a:off x="640075" y="2000250"/>
            <a:ext cx="108909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Scope: 316 comprehensive test cases (unit, integration, contract tests).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modules verified: test_debounce_logic, test_face_registry, test_attendance_logger, test_gap_remediation.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Execution: Matplotlib local configuration (MPLBACKEND=Agg) to ensure headless test run success.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g3f15a98193e_0_157" title="Screenshot 2026-06-19 at 12.27.3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4254150"/>
            <a:ext cx="10890901" cy="23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15a98193e_0_19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Open-Set Biometrics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Accuracy metrics bar chart alongside real-time frame processing latency histograms.</a:t>
            </a:r>
          </a:p>
        </p:txBody>
      </p:sp>
      <p:pic>
        <p:nvPicPr>
          <p:cNvPr id="195" name="Picture 194" descr="slide_17_metrics_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5303520" cy="4389120"/>
          </a:xfrm>
          <a:prstGeom prst="rect">
            <a:avLst/>
          </a:prstGeom>
        </p:spPr>
      </p:pic>
      <p:pic>
        <p:nvPicPr>
          <p:cNvPr id="196" name="Picture 19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2880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15a98193e_0_190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Attendance Compliance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Truancy F1-Score:</a:t>
            </a:r>
            <a:br/>
            <a:r>
              <a:t>  Achieved 97.8% F1-score, with 97.5% Precision and 98.2% Sensitivity.</a:t>
            </a:r>
            <a:br/>
            <a:br/>
            <a:r>
              <a:t>• Debounce Filtering:</a:t>
            </a:r>
            <a:br/>
            <a:r>
              <a:t>  A 30-frame temporal debounce filter reduces false presence alerts by 85%.</a:t>
            </a:r>
            <a:br/>
            <a:br/>
            <a:r>
              <a:t>• Blindspot Detection:</a:t>
            </a:r>
            <a:br/>
            <a:r>
              <a:t>  Acoustic fallback guarantees 100% detection coverage in camera blindspots.</a:t>
            </a:r>
          </a:p>
        </p:txBody>
      </p:sp>
      <p:pic>
        <p:nvPicPr>
          <p:cNvPr id="202" name="Picture 20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645920"/>
            <a:ext cx="64922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15a98193e_0_18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Scalability Analysis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Memory Scaling:</a:t>
            </a:r>
            <a:br/>
            <a:r>
              <a:t>  Requires only 2 KB per student embedding (200MB index for 100,000 students).</a:t>
            </a:r>
            <a:br/>
            <a:br/>
            <a:r>
              <a:t>• Search Speedup:</a:t>
            </a:r>
            <a:br/>
            <a:r>
              <a:t>  FAISS HNSW search time exhibits near-logarithmic average scaling behavior (3.12ms search for 100k gallery size).</a:t>
            </a:r>
            <a:br/>
            <a:br/>
            <a:r>
              <a:t>• Thermal Stability:</a:t>
            </a:r>
            <a:br/>
            <a:r>
              <a:t>  Zero performance degradation or thermal throttling over 24-hour continuous load stress tests.</a:t>
            </a:r>
          </a:p>
        </p:txBody>
      </p:sp>
      <p:pic>
        <p:nvPicPr>
          <p:cNvPr id="209" name="Picture 20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828800"/>
            <a:ext cx="64922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15a98193e_0_204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GDPR Compliance Mapping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Biometric compliance mapping of European GDPR articles to ScholarMaster edge security mechanism boundaries.</a:t>
            </a:r>
          </a:p>
        </p:txBody>
      </p:sp>
      <p:pic>
        <p:nvPicPr>
          <p:cNvPr id="216" name="Picture 2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15a98193e_0_2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Limitations &amp; Challenges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Analysis of classroom sensing occlusions and corresponding multi-modal fallback mitigations.</a:t>
            </a:r>
          </a:p>
        </p:txBody>
      </p:sp>
      <p:pic>
        <p:nvPicPr>
          <p:cNvPr id="223" name="Picture 2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15a98193e_0_2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Rounded Rectangle 228"/>
          <p:cNvSpPr/>
          <p:nvPr/>
        </p:nvSpPr>
        <p:spPr>
          <a:xfrm>
            <a:off x="640080" y="1828800"/>
            <a:ext cx="52120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KEY SYSTEM CONCLUSIONS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Resolved Privacy-Utility Conflict:</a:t>
            </a:r>
            <a:br/>
            <a:r>
              <a:t>  Demonstrated real-time presence audit without persistent biometric records.</a:t>
            </a:r>
            <a:br/>
            <a:br/>
            <a:r>
              <a:t>• Strict GDPR Compliance:</a:t>
            </a:r>
            <a:br/>
            <a:r>
              <a:t>  Validates Article 25 (Privacy-by-Design) and Article 17 (Right-to-Erasure) boundaries.</a:t>
            </a:r>
            <a:br/>
            <a:br/>
            <a:r>
              <a:t>• High Accuracy Open-Set Biometrics:</a:t>
            </a:r>
            <a:br/>
            <a:r>
              <a:t>  Achieved 88.33% OSIR and 100.0% UIRR on stranger detection.</a:t>
            </a:r>
            <a:br/>
            <a:br/>
            <a:r>
              <a:t>• Zero-Latency Local Performance:</a:t>
            </a:r>
            <a:br/>
            <a:r>
              <a:t>  Sub-60ms mean frame inference allows robust local deployment at the edge.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83504"/>
                </a:solidFill>
                <a:latin typeface="Arial"/>
              </a:defRPr>
            </a:pPr>
            <a:r>
              <a:t>FUTURE WORK &amp; EXTENSIONS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Edge Model Quantization:</a:t>
            </a:r>
            <a:br/>
            <a:r>
              <a:t>  INT8 quantization and ONNX weight pruning for cheap microcontrollers.</a:t>
            </a:r>
            <a:br/>
            <a:br/>
            <a:r>
              <a:t>• Distributed Ledger Decentralization:</a:t>
            </a:r>
            <a:br/>
            <a:r>
              <a:t>  Blockchain integration to log Merkle tree root hashes securely.</a:t>
            </a:r>
            <a:br/>
            <a:br/>
            <a:r>
              <a:t>• Sensor Fusion Enhancement:</a:t>
            </a:r>
            <a:br/>
            <a:r>
              <a:t>  Adding multi-camera spatial fusion to resolve person-person occlusion.</a:t>
            </a:r>
            <a:br/>
            <a:br/>
            <a:r>
              <a:t>• Broad Integration:</a:t>
            </a:r>
            <a:br/>
            <a:r>
              <a:t>  Connecting directly to university ERP systems and mobile alert notification APIs.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type="title"/>
          </p:nvPr>
        </p:nvSpPr>
        <p:spPr>
          <a:xfrm>
            <a:off x="640080" y="1302091"/>
            <a:ext cx="3291840" cy="2770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400"/>
              <a:t>THANK YOU</a:t>
            </a:r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64008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A8A"/>
                </a:solidFill>
                <a:latin typeface="Arial"/>
              </a:defRPr>
            </a:pPr>
            <a:r>
              <a:t>THANK YOU</a:t>
            </a:r>
          </a:p>
          <a:p>
            <a:br/>
            <a:pPr>
              <a:defRPr sz="1800">
                <a:solidFill>
                  <a:srgbClr val="4B5563"/>
                </a:solidFill>
                <a:latin typeface="Arial"/>
              </a:defRPr>
            </a:pPr>
            <a:r>
              <a:t>Questions &amp; Comments are Welcome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5943600" y="2011680"/>
            <a:ext cx="5303520" cy="3657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Candidate Details</a:t>
            </a:r>
          </a:p>
          <a:p>
            <a:br/>
            <a:pPr>
              <a:lnSpc>
                <a:spcPct val="130000"/>
              </a:lnSpc>
              <a:defRPr sz="1200">
                <a:solidFill>
                  <a:srgbClr val="1F2937"/>
                </a:solidFill>
                <a:latin typeface="Times New Roman"/>
              </a:defRPr>
            </a:pPr>
            <a:r>
              <a:t>POLISETTI NARENDRA</a:t>
            </a:r>
            <a:br/>
            <a:r>
              <a:t>Roll No: 24A21D5827</a:t>
            </a:r>
            <a:br/>
            <a:r>
              <a:t>M.Tech (Computer Science &amp; Engineering)</a:t>
            </a:r>
            <a:br/>
            <a:br/>
            <a:r>
              <a:t>Swarnandhra College of Engineering and Technology</a:t>
            </a:r>
            <a:br/>
            <a:r>
              <a:t>(Autonomous)</a:t>
            </a:r>
            <a:br/>
            <a:r>
              <a:t>Seetharampuram, Narsapur, West Godavari District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SLIDE INSERTION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2025-07-19T04:09:48Z</dcterms:created>
  <dc:creator>tpk KUMAR</dc:creator>
</cp:coreProperties>
</file>