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79" r:id="rId40"/>
    <p:sldId id="257" r:id="rId7"/>
    <p:sldId id="258" r:id="rId8"/>
    <p:sldId id="280" r:id="rId41"/>
    <p:sldId id="281" r:id="rId4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2" r:id="rId43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4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Relationship Id="rId5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5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5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Core pillars of the system: edge automation, GDPR privacy, and cryptographic auditing.</a:t>
            </a:r>
          </a:p>
        </p:txBody>
      </p:sp>
      <p:pic>
        <p:nvPicPr>
          <p:cNvPr id="100" name="Picture 99" descr="slide_3_objecti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Contrasting the high-risk manual RFID roll-call flow with the proposed secure edge-to-ledger sensing pipeline.</a:t>
            </a:r>
          </a:p>
        </p:txBody>
      </p:sp>
      <p:pic>
        <p:nvPicPr>
          <p:cNvPr id="107" name="Picture 106" descr="slide_4_compari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Multi-layered boundary isolation protecting raw sensor capture from Streamlit presentation layers.</a:t>
            </a:r>
          </a:p>
        </p:txBody>
      </p:sp>
      <p:pic>
        <p:nvPicPr>
          <p:cNvPr id="115" name="Picture 114" descr="slide_5_on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8288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Layered technology pipeline mapping structural dependencies from raw sensors up to administrative UI panels.</a:t>
            </a:r>
          </a:p>
        </p:txBody>
      </p:sp>
      <p:pic>
        <p:nvPicPr>
          <p:cNvPr id="122" name="Picture 121" descr="slide_6_tech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36" y="1828800"/>
            <a:ext cx="8641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slide_7_runtime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5925312" cy="41148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search chain utilizing local YOLOv8-Face detection and FAISS nearest-neighbor matching.</a:t>
            </a: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slide_9_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28800"/>
            <a:ext cx="676656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Timetable constraints and transition speed limits verifying physical student presence locations.</a:t>
            </a:r>
          </a:p>
        </p:txBody>
      </p:sp>
      <p:pic>
        <p:nvPicPr>
          <p:cNvPr id="154" name="Picture 153" descr="slide_11_stcs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6307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Securing transaction logs by recursively hashing blocks to block backward database attacks.</a:t>
            </a:r>
          </a:p>
        </p:txBody>
      </p:sp>
      <p:pic>
        <p:nvPicPr>
          <p:cNvPr id="167" name="Picture 166" descr="slide_13_led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Local SQLite ER diagram detailing primary/foreign key connections and relationship cardinalities.</a:t>
            </a:r>
          </a:p>
        </p:txBody>
      </p:sp>
      <p:pic>
        <p:nvPicPr>
          <p:cNvPr id="174" name="Picture 173" descr="slide_14_e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1828800"/>
            <a:ext cx="97109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UI Framework:</a:t>
            </a:r>
            <a:br/>
            <a:r>
              <a:t>  Streamlit &amp; Plotly Express dashboard with active session state tracking.</a:t>
            </a:r>
            <a:br/>
            <a:br/>
            <a:r>
              <a:t>• Tab Security Gateways:</a:t>
            </a:r>
            <a:br/>
            <a:r>
              <a:t>  Enforces query-level isolation at database boundaries, locks parameters to roles.</a:t>
            </a:r>
            <a:br/>
            <a:br/>
            <a:r>
              <a:t>• 7-Role Alignment:</a:t>
            </a:r>
            <a:br/>
            <a:r>
              <a:t>  Formally implements a 7-Role RBAC matrix mapped into 4 custom dashboard layout configurations.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5715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Formal Role (7-Role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Dashboard Mapping &amp; Scoped Privileges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 View (Full write config, User Mgmt, Audit Ledger)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Admin / 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 View (Dept-restricted write &amp; analytics logs)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View (Assigned course read &amp; attendance override check)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Class 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View (Assigned cohort read &amp; override check)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(Personal logs read-only, schedule lookup)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+ Real-time Alert center log streams lookup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Non-Teaching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 View (Facility-specific access logs read-only)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Accuracy metrics bar chart alongside real-time frame processing latency histograms.</a:t>
            </a:r>
          </a:p>
        </p:txBody>
      </p:sp>
      <p:pic>
        <p:nvPicPr>
          <p:cNvPr id="195" name="Picture 194" descr="slide_17_metrics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011680"/>
            <a:ext cx="5303520" cy="3685032"/>
          </a:xfrm>
          <a:prstGeom prst="rect">
            <a:avLst/>
          </a:prstGeom>
        </p:spPr>
      </p:pic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303520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5079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286000"/>
            <a:ext cx="6492240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Biometric compliance mapping of European GDPR articles to ScholarMaster edge security mechanism boundaries.</a:t>
            </a:r>
          </a:p>
        </p:txBody>
      </p:sp>
      <p:pic>
        <p:nvPicPr>
          <p:cNvPr id="216" name="Picture 215" descr="slide_20_gdp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Analysis of classroom sensing occlusions and corresponding multi-modal fallback mitigations.</a:t>
            </a:r>
          </a:p>
        </p:txBody>
      </p:sp>
      <p:pic>
        <p:nvPicPr>
          <p:cNvPr id="223" name="Picture 222" descr="slide_21_occl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8288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ERP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4008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A8A"/>
                </a:solidFill>
                <a:latin typeface="Arial"/>
              </a:defRPr>
            </a:pPr>
            <a:r>
              <a:t>THANK YOU</a:t>
            </a:r>
          </a:p>
          <a:p>
            <a:br/>
            <a:pPr>
              <a:defRPr sz="1800">
                <a:solidFill>
                  <a:srgbClr val="4B5563"/>
                </a:solidFill>
                <a:latin typeface="Arial"/>
              </a:defRPr>
            </a:pPr>
            <a:r>
              <a:t>Questions &amp; Comments are Welcome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Context of computer-vision-based student presence and edge monitoring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Automated Tracking:</a:t>
            </a:r>
            <a:br/>
            <a:r>
              <a:t>  Automated monitoring replaces manual rosters to prevent class-time truancies.</a:t>
            </a:r>
            <a:br/>
            <a:br/>
            <a:r>
              <a:t>• Decentralized Edge AI:</a:t>
            </a:r>
            <a:br/>
            <a:r>
              <a:t>  Local cameras and processors run biometrics locally, protecting raw sensors.</a:t>
            </a:r>
            <a:br/>
            <a:br/>
            <a:r>
              <a:t>• Regulatory Context:</a:t>
            </a:r>
            <a:br/>
            <a:r>
              <a:t>  Operates under strict privacy rules (GDPR) prohibiting centralized biometric storage.</a:t>
            </a:r>
          </a:p>
        </p:txBody>
      </p:sp>
      <p:pic>
        <p:nvPicPr>
          <p:cNvPr id="5" name="Picture 4" descr="slide_2_intro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6766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Comparison of traditional systems, closed-set biometrics, and the proposed spatiotemporal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87782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Key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Traditional [RFID / Manual]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Closed-Set [FaceNet / MTCNN]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Proposed ScholarMaster Engine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Biometric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(Manual 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Closed-Set Search (Small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Open-Set FAISS HNSW (N=100k) [1, 2]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Verification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None (Proxy swiping 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Liveness check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schedule heuristics [6]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Privacy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Low (Sheets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Central Database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33ms Volatile RAM cache [5]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Audit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Manual sheets (Vulnerable)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Plain database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Cryptographic Merkle Ledger [7]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architectural and privacy shortcomings identified in prior monitoring implementations.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Open-Set Failure:</a:t>
            </a:r>
            <a:br/>
            <a:r>
              <a:t>  Prior systems use closed-set models which fail on unregistered strangers, causing false database matches.</a:t>
            </a:r>
            <a:br/>
            <a:br/>
            <a:r>
              <a:t>• Central Storage Risks:</a:t>
            </a:r>
            <a:br/>
            <a:r>
              <a:t>  Central biometric template databases violate GDPR Article 25 (Privacy-by-Design).</a:t>
            </a:r>
            <a:br/>
            <a:br/>
            <a:r>
              <a:t>• Lack of Context:</a:t>
            </a:r>
            <a:br/>
            <a:r>
              <a:t>  Static verification fails to check physical presence coordinates, enabling proxy frauds.</a:t>
            </a:r>
          </a:p>
        </p:txBody>
      </p:sp>
      <p:pic>
        <p:nvPicPr>
          <p:cNvPr id="5" name="Picture 4" descr="slide_6_research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60320"/>
            <a:ext cx="67665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4B5563"/>
                </a:solidFill>
                <a:latin typeface="Arial"/>
              </a:defRPr>
            </a:pPr>
            <a:r>
              <a:t>Key publications supporting biometric open-set search, spatiotemporal constraints, and lab security foundations.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CORE &amp; RECENT SOTA REFERENCES</a:t>
            </a:r>
          </a:p>
          <a:p>
            <a:br/>
            <a:pPr>
              <a:lnSpc>
                <a:spcPct val="125000"/>
              </a:lnSpc>
              <a:defRPr sz="850">
                <a:solidFill>
                  <a:srgbClr val="374151"/>
                </a:solidFill>
                <a:latin typeface="Arial"/>
              </a:defRPr>
            </a:pPr>
            <a:r>
              <a:t>[1] J. Deng, J. Guo, N. Xue, and S. Zafeiriou, "ArcFace: Additive angular margin loss for deep face recognition," in CVPR, pp. 4690–4699, 2019.</a:t>
            </a:r>
            <a:br/>
            <a:br/>
            <a:r>
              <a:t>[2] J. Johnson, M. Douze, and H. Jégou, "Billion-scale similarity search with GPUs," IEEE Transactions on Big Data, vol. 7, no. 3, pp. 535–547, 2019.</a:t>
            </a:r>
            <a:br/>
            <a:br/>
            <a:r>
              <a:t>[3] M. Wang and W. Deng, "Deep face recognition: A survey," Neurocomputing, vol. 429, pp. 215–244, 2021 (Recent SOTA).</a:t>
            </a:r>
            <a:br/>
            <a:br/>
            <a:r>
              <a:t>[4] G. Jocher, A. Chaurasia, and J. Qiu, "Ultralytics YOLOv8 State-of-the-Art Object Detection," GitHub, 2023 (Recent SOTA).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REGULATORY &amp; LAB ALIGNMENT</a:t>
            </a:r>
          </a:p>
          <a:p>
            <a:br/>
            <a:pPr>
              <a:lnSpc>
                <a:spcPct val="125000"/>
              </a:lnSpc>
              <a:defRPr sz="850">
                <a:solidFill>
                  <a:srgbClr val="374151"/>
                </a:solidFill>
                <a:latin typeface="Arial"/>
              </a:defRPr>
            </a:pPr>
            <a:r>
              <a:t>[5] European Parliament, "Regulation (EU) 2016/679 (GDPR)," Official Journal of the European Union, 2016.</a:t>
            </a:r>
            <a:br/>
            <a:br/>
            <a:r>
              <a:t>[6] V. Chandrasekar, S. Suresh Kumar, and T. Maheswari, "Authentication based on keystroke dynamics using stochastic diffusion algorithm," Stochastic Analysis and Applications, vol. 34, no. 1, pp. 155–164, 2016 (Lab Heritage).</a:t>
            </a:r>
            <a:br/>
            <a:br/>
            <a:r>
              <a:t>[7] S. Suresh Kumar et al., "Decentralized Smart Campus Infrastructure and Edge-IoT Cryptographic Audits," IEEE Access, vol. 12, pp. 10245–10255, 2024 (Recent Lab SOTA).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