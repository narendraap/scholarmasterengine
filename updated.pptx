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9" r:id="rId40"/>
    <p:sldId id="257" r:id="rId7"/>
    <p:sldId id="258" r:id="rId8"/>
    <p:sldId id="280" r:id="rId41"/>
    <p:sldId id="281" r:id="rId4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2" r:id="rId43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5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slide_3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slide_5_on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slide_7_runtime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852160" cy="45720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slide_9_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slide_11_st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slide_13_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Presentation Framework:</a:t>
            </a:r>
            <a:br/>
            <a:r>
              <a:t>  Built with Streamlit and Plotly Express for real-time administrative access.</a:t>
            </a:r>
            <a:br/>
            <a:br/>
            <a:r>
              <a:t>• Tab Isolation Logic:</a:t>
            </a:r>
            <a:br/>
            <a:r>
              <a:t>  Uses SQLite session state checks to enforce strict role-based access.</a:t>
            </a:r>
            <a:br/>
            <a:br/>
            <a:r>
              <a:t>• 7-Role RBAC Model:</a:t>
            </a:r>
            <a:br/>
            <a:r>
              <a:t>  Restricts page controls based on Super Admin, HOD, Faculty, and Student credentials.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5303520" cy="4389120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459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slide_20_gd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slide_21_occ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ERP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Context of computer-vision-based student presence and edge monitoring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Automated Tracking:</a:t>
            </a:r>
            <a:br/>
            <a:r>
              <a:t>  Automated monitoring replaces manual rosters to prevent class-time truancies.</a:t>
            </a:r>
            <a:br/>
            <a:br/>
            <a:r>
              <a:t>• Decentralized Edge AI:</a:t>
            </a:r>
            <a:br/>
            <a:r>
              <a:t>  Local cameras and processors run biometrics locally, protecting raw sensors.</a:t>
            </a:r>
            <a:br/>
            <a:br/>
            <a:r>
              <a:t>• Regulatory Context:</a:t>
            </a:r>
            <a:br/>
            <a:r>
              <a:t>  Operates under strict privacy rules (GDPR) prohibiting centralized biometric storage.</a:t>
            </a:r>
          </a:p>
        </p:txBody>
      </p:sp>
      <p:pic>
        <p:nvPicPr>
          <p:cNvPr id="5" name="Picture 4" descr="slide_2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Comparison of traditional systems, closed-set biometrics, and the proposed spatiotemporal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Traditional [RFID / Manual]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Closed-Set [FaceNet / MTCNN]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Proposed ScholarMaster Engine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Biometric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(Manual 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Closed-Set Search (Small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Open-Set FAISS HNSW (N=100k) [1, 2]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Verification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(Proxy swiping 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Liveness check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schedule heuristics [4]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Privacy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 (Sheets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Central Database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33ms Volatile RAM cache [3]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Audit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Manual sheets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Plain database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Cryptographic Merkle Ledger [5]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architectural and privacy shortcomings identified in prior monitoring implementations.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Failure:</a:t>
            </a:r>
            <a:br/>
            <a:r>
              <a:t>  Prior systems use closed-set models which fail on unregistered strangers, causing false database matches.</a:t>
            </a:r>
            <a:br/>
            <a:br/>
            <a:r>
              <a:t>• Central Storage Risks:</a:t>
            </a:r>
            <a:br/>
            <a:r>
              <a:t>  Central biometric template databases violate GDPR Article 25 (Privacy-by-Design).</a:t>
            </a:r>
            <a:br/>
            <a:br/>
            <a:r>
              <a:t>• Lack of Context:</a:t>
            </a:r>
            <a:br/>
            <a:r>
              <a:t>  Static verification fails to check physical presence coordinates, enabling proxy frauds.</a:t>
            </a:r>
          </a:p>
        </p:txBody>
      </p:sp>
      <p:pic>
        <p:nvPicPr>
          <p:cNvPr id="5" name="Picture 4" descr="slide_6_research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publications supporting biometric open-set search, spatiotemporal constraints, and lab security foundations.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CORE ACADEMIC REFERENCES</a:t>
            </a:r>
          </a:p>
          <a:p>
            <a:br/>
            <a:pPr>
              <a:lnSpc>
                <a:spcPct val="130000"/>
              </a:lnSpc>
              <a:defRPr sz="900">
                <a:solidFill>
                  <a:srgbClr val="374151"/>
                </a:solidFill>
                <a:latin typeface="Arial"/>
              </a:defRPr>
            </a:pPr>
            <a:r>
              <a:t>[1] J. Deng, J. Guo, N. Xue, and S. Zafeiriou, "ArcFace: Additive angular margin loss for deep face recognition," in Proceedings of the IEEE/CVF Conference on Computer Vision and Pattern Recognition, pp. 4690–4699, 2019.</a:t>
            </a:r>
            <a:br/>
            <a:br/>
            <a:r>
              <a:t>[2] J. Johnson, M. Douze, and H. Jégou, "Billion-scale similarity search with GPUs," IEEE Transactions on Big Data, vol. 7, no. 3, pp. 535–547, 2019.</a:t>
            </a:r>
            <a:br/>
            <a:br/>
            <a:r>
              <a:t>[3] European Parliament and Council, "Regulation (EU) 2016/679 (General Data Protection Regulation)," Official Journal of the European Union, 2016.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LAB &amp; SECURITY ALIGNMENT</a:t>
            </a:r>
          </a:p>
          <a:p>
            <a:br/>
            <a:pPr>
              <a:lnSpc>
                <a:spcPct val="130000"/>
              </a:lnSpc>
              <a:defRPr sz="900">
                <a:solidFill>
                  <a:srgbClr val="374151"/>
                </a:solidFill>
                <a:latin typeface="Arial"/>
              </a:defRPr>
            </a:pPr>
            <a:r>
              <a:t>[4] V. Chandrasekar, S. Suresh Kumar, and T. Maheswari, "Authentication based on keystroke dynamics using stochastic diffusion algorithm," Stochastic Analysis and Applications, vol. 34, no. 1, pp. 155–164, 2016.</a:t>
            </a:r>
            <a:br/>
            <a:br/>
            <a:r>
              <a:t>[5] S. Suresh Kumar and C. Sivapragash, "Time Orient Traffic Estimation Approach to Improve Performance of Smart Grids," Journal of Computational and Theoretical Nanoscience, vol. 13, no. 8, pp. 5037–5045,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