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79" r:id="rId40"/>
    <p:sldId id="257" r:id="rId7"/>
    <p:sldId id="258" r:id="rId8"/>
    <p:sldId id="280" r:id="rId41"/>
    <p:sldId id="281" r:id="rId42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82" r:id="rId43"/>
    <p:sldId id="275" r:id="rId25"/>
    <p:sldId id="276" r:id="rId26"/>
    <p:sldId id="277" r:id="rId27"/>
    <p:sldId id="283" r:id="rId44"/>
    <p:sldId id="278" r:id="rId28"/>
  </p:sldIdLst>
  <p:sldSz cy="6858000" cx="12192000"/>
  <p:notesSz cx="6858000" cy="9144000"/>
  <p:embeddedFontLst>
    <p:embeddedFont>
      <p:font typeface="Raleway"/>
      <p:regular r:id="rId29"/>
      <p:bold r:id="rId30"/>
      <p:italic r:id="rId31"/>
      <p:boldItalic r:id="rId32"/>
    </p:embeddedFont>
    <p:embeddedFont>
      <p:font typeface="Play"/>
      <p:regular r:id="rId33"/>
      <p:bold r:id="rId34"/>
    </p:embeddedFont>
    <p:embeddedFont>
      <p:font typeface="Lato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9" roundtripDataSignature="AMtx7mjSGeqNWgXGjYiLDFhUaRRA2mGDV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289B49A-8ABB-4894-AD29-65B719E2D82E}">
  <a:tblStyle styleId="{F289B49A-8ABB-4894-AD29-65B719E2D82E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font" Target="fonts/Raleway-regular.fntdata"/><Relationship Id="rId30" Type="http://schemas.openxmlformats.org/officeDocument/2006/relationships/font" Target="fonts/Raleway-bold.fntdata"/><Relationship Id="rId31" Type="http://schemas.openxmlformats.org/officeDocument/2006/relationships/font" Target="fonts/Raleway-italic.fntdata"/><Relationship Id="rId32" Type="http://schemas.openxmlformats.org/officeDocument/2006/relationships/font" Target="fonts/Raleway-boldItalic.fntdata"/><Relationship Id="rId33" Type="http://schemas.openxmlformats.org/officeDocument/2006/relationships/font" Target="fonts/Play-regular.fntdata"/><Relationship Id="rId34" Type="http://schemas.openxmlformats.org/officeDocument/2006/relationships/font" Target="fonts/Play-bold.fntdata"/><Relationship Id="rId35" Type="http://schemas.openxmlformats.org/officeDocument/2006/relationships/font" Target="fonts/Lato-regular.fntdata"/><Relationship Id="rId36" Type="http://schemas.openxmlformats.org/officeDocument/2006/relationships/font" Target="fonts/Lato-bold.fntdata"/><Relationship Id="rId37" Type="http://schemas.openxmlformats.org/officeDocument/2006/relationships/font" Target="fonts/Lato-italic.fntdata"/><Relationship Id="rId38" Type="http://schemas.openxmlformats.org/officeDocument/2006/relationships/font" Target="fonts/Lato-boldItalic.fntdata"/><Relationship Id="rId39" Type="http://customschemas.google.com/relationships/presentationmetadata" Target="metadata"/><Relationship Id="rId40" Type="http://schemas.openxmlformats.org/officeDocument/2006/relationships/slide" Target="slides/slide24.xml"/><Relationship Id="rId41" Type="http://schemas.openxmlformats.org/officeDocument/2006/relationships/slide" Target="slides/slide25.xml"/><Relationship Id="rId42" Type="http://schemas.openxmlformats.org/officeDocument/2006/relationships/slide" Target="slides/slide26.xml"/><Relationship Id="rId43" Type="http://schemas.openxmlformats.org/officeDocument/2006/relationships/slide" Target="slides/slide27.xml"/><Relationship Id="rId44" Type="http://schemas.openxmlformats.org/officeDocument/2006/relationships/slide" Target="slides/slide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6" name="Google Shape;76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a6045bda6f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6" name="Google Shape;96;g3a6045bda6f_0_4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a6045bda6f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3" name="Google Shape;103;g3a6045bda6f_0_6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b13e486e5b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1" name="Google Shape;111;g3b13e486e5b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b13e486e5b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8" name="Google Shape;118;g3b13e486e5b_0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b13e486e5b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4" name="Google Shape;124;g3b13e486e5b_0_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b13e486e5b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0" name="Google Shape;130;g3b13e486e5b_0_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b13e486e5b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7" name="Google Shape;137;g3b13e486e5b_0_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b13e486e5b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4" name="Google Shape;144;g3b13e486e5b_0_5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b13e486e5b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0" name="Google Shape;150;g3b13e486e5b_0_6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a6045bda6f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7" name="Google Shape;157;g3a6045bda6f_0_7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f15a98193e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3" name="Google Shape;163;g3f15a98193e_0_1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f15a98193e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0" name="Google Shape;170;g3f15a98193e_0_16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f15a98193e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7" name="Google Shape;177;g3f15a98193e_0_16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f15a98193e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4" name="Google Shape;184;g3f15a98193e_0_15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f15a98193e_0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1" name="Google Shape;191;g3f15a98193e_0_19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f15a98193e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8" name="Google Shape;198;g3f15a98193e_0_19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f15a98193e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5" name="Google Shape;205;g3f15a98193e_0_18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f15a98193e_0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2" name="Google Shape;212;g3f15a98193e_0_20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f15a98193e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9" name="Google Shape;219;g3f15a98193e_0_2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f15a98193e_0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6" name="Google Shape;226;g3f15a98193e_0_2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2" name="Google Shape;232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a6045bda6f_0_145"/>
          <p:cNvSpPr txBox="1"/>
          <p:nvPr>
            <p:ph idx="12" type="sldNum"/>
          </p:nvPr>
        </p:nvSpPr>
        <p:spPr>
          <a:xfrm>
            <a:off x="11330666" y="6251679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a6045bda6f_0_147"/>
          <p:cNvSpPr txBox="1"/>
          <p:nvPr>
            <p:ph type="title"/>
          </p:nvPr>
        </p:nvSpPr>
        <p:spPr>
          <a:xfrm>
            <a:off x="640079" y="1371601"/>
            <a:ext cx="108909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13" name="Google Shape;13;g3a6045bda6f_0_147"/>
          <p:cNvSpPr txBox="1"/>
          <p:nvPr>
            <p:ph idx="1" type="body"/>
          </p:nvPr>
        </p:nvSpPr>
        <p:spPr>
          <a:xfrm>
            <a:off x="640080" y="2633472"/>
            <a:ext cx="10890900" cy="35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8041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66"/>
              <a:buChar char="●"/>
              <a:defRPr/>
            </a:lvl1pPr>
            <a:lvl2pPr indent="-328041" lvl="1" marL="914400" algn="l">
              <a:lnSpc>
                <a:spcPct val="12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66"/>
              <a:buChar char="○"/>
              <a:defRPr/>
            </a:lvl2pPr>
            <a:lvl3pPr indent="-328041" lvl="2" marL="1371600" algn="l">
              <a:lnSpc>
                <a:spcPct val="12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66"/>
              <a:buChar char="■"/>
              <a:defRPr/>
            </a:lvl3pPr>
            <a:lvl4pPr indent="-328041" lvl="3" marL="1828800" algn="l">
              <a:lnSpc>
                <a:spcPct val="12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66"/>
              <a:buChar char="●"/>
              <a:defRPr/>
            </a:lvl4pPr>
            <a:lvl5pPr indent="-328041" lvl="4" marL="2286000" algn="l">
              <a:lnSpc>
                <a:spcPct val="12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66"/>
              <a:buChar char="○"/>
              <a:defRPr/>
            </a:lvl5pPr>
            <a:lvl6pPr indent="-342900" lvl="5" marL="2743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14" name="Google Shape;14;g3a6045bda6f_0_147"/>
          <p:cNvSpPr txBox="1"/>
          <p:nvPr>
            <p:ph idx="10" type="dt"/>
          </p:nvPr>
        </p:nvSpPr>
        <p:spPr>
          <a:xfrm>
            <a:off x="64008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g3a6045bda6f_0_147"/>
          <p:cNvSpPr txBox="1"/>
          <p:nvPr>
            <p:ph idx="11" type="ftr"/>
          </p:nvPr>
        </p:nvSpPr>
        <p:spPr>
          <a:xfrm>
            <a:off x="6767622" y="6356350"/>
            <a:ext cx="4040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" name="Google Shape;16;g3a6045bda6f_0_147"/>
          <p:cNvSpPr txBox="1"/>
          <p:nvPr>
            <p:ph idx="12" type="sldNum"/>
          </p:nvPr>
        </p:nvSpPr>
        <p:spPr>
          <a:xfrm>
            <a:off x="10807995" y="6356350"/>
            <a:ext cx="72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Google Shape;18;g3a6045bda6f_0_88"/>
          <p:cNvCxnSpPr/>
          <p:nvPr/>
        </p:nvCxnSpPr>
        <p:spPr>
          <a:xfrm>
            <a:off x="3303633" y="554200"/>
            <a:ext cx="8325600" cy="0"/>
          </a:xfrm>
          <a:prstGeom prst="straightConnector1">
            <a:avLst/>
          </a:prstGeom>
          <a:noFill/>
          <a:ln cap="flat" cmpd="sng" w="508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" name="Google Shape;19;g3a6045bda6f_0_88"/>
          <p:cNvCxnSpPr/>
          <p:nvPr/>
        </p:nvCxnSpPr>
        <p:spPr>
          <a:xfrm>
            <a:off x="3303633" y="6320000"/>
            <a:ext cx="8325600" cy="0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" name="Google Shape;20;g3a6045bda6f_0_88"/>
          <p:cNvCxnSpPr/>
          <p:nvPr/>
        </p:nvCxnSpPr>
        <p:spPr>
          <a:xfrm>
            <a:off x="566931" y="554200"/>
            <a:ext cx="244500" cy="0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" name="Google Shape;21;g3a6045bda6f_0_88"/>
          <p:cNvSpPr txBox="1"/>
          <p:nvPr>
            <p:ph type="ctrTitle"/>
          </p:nvPr>
        </p:nvSpPr>
        <p:spPr>
          <a:xfrm>
            <a:off x="3162300" y="840300"/>
            <a:ext cx="8442000" cy="20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g3a6045bda6f_0_88"/>
          <p:cNvSpPr txBox="1"/>
          <p:nvPr>
            <p:ph idx="1" type="subTitle"/>
          </p:nvPr>
        </p:nvSpPr>
        <p:spPr>
          <a:xfrm>
            <a:off x="3187022" y="4317933"/>
            <a:ext cx="8442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" name="Google Shape;23;g3a6045bda6f_0_88"/>
          <p:cNvSpPr txBox="1"/>
          <p:nvPr>
            <p:ph idx="12" type="sldNum"/>
          </p:nvPr>
        </p:nvSpPr>
        <p:spPr>
          <a:xfrm>
            <a:off x="11330666" y="6251679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Google Shape;25;g3a6045bda6f_0_95"/>
          <p:cNvCxnSpPr/>
          <p:nvPr/>
        </p:nvCxnSpPr>
        <p:spPr>
          <a:xfrm>
            <a:off x="566934" y="554200"/>
            <a:ext cx="11062500" cy="0"/>
          </a:xfrm>
          <a:prstGeom prst="straightConnector1">
            <a:avLst/>
          </a:prstGeom>
          <a:noFill/>
          <a:ln cap="flat" cmpd="sng" w="508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" name="Google Shape;26;g3a6045bda6f_0_95"/>
          <p:cNvCxnSpPr/>
          <p:nvPr/>
        </p:nvCxnSpPr>
        <p:spPr>
          <a:xfrm>
            <a:off x="566934" y="6320000"/>
            <a:ext cx="11062500" cy="0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g3a6045bda6f_0_95"/>
          <p:cNvSpPr txBox="1"/>
          <p:nvPr>
            <p:ph type="title"/>
          </p:nvPr>
        </p:nvSpPr>
        <p:spPr>
          <a:xfrm>
            <a:off x="541900" y="2409100"/>
            <a:ext cx="11062500" cy="20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" name="Google Shape;28;g3a6045bda6f_0_95"/>
          <p:cNvSpPr txBox="1"/>
          <p:nvPr>
            <p:ph idx="12" type="sldNum"/>
          </p:nvPr>
        </p:nvSpPr>
        <p:spPr>
          <a:xfrm>
            <a:off x="11330666" y="6251679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Google Shape;30;g3a6045bda6f_0_100"/>
          <p:cNvCxnSpPr/>
          <p:nvPr/>
        </p:nvCxnSpPr>
        <p:spPr>
          <a:xfrm>
            <a:off x="3303633" y="554200"/>
            <a:ext cx="8325600" cy="0"/>
          </a:xfrm>
          <a:prstGeom prst="straightConnector1">
            <a:avLst/>
          </a:prstGeom>
          <a:noFill/>
          <a:ln cap="flat" cmpd="sng" w="508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" name="Google Shape;31;g3a6045bda6f_0_100"/>
          <p:cNvCxnSpPr/>
          <p:nvPr/>
        </p:nvCxnSpPr>
        <p:spPr>
          <a:xfrm>
            <a:off x="3303633" y="6320000"/>
            <a:ext cx="8325600" cy="0"/>
          </a:xfrm>
          <a:prstGeom prst="straightConnector1">
            <a:avLst/>
          </a:prstGeom>
          <a:noFill/>
          <a:ln cap="flat" cmpd="sng" w="25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" name="Google Shape;32;g3a6045bda6f_0_100"/>
          <p:cNvCxnSpPr/>
          <p:nvPr/>
        </p:nvCxnSpPr>
        <p:spPr>
          <a:xfrm>
            <a:off x="566931" y="554200"/>
            <a:ext cx="244500" cy="0"/>
          </a:xfrm>
          <a:prstGeom prst="straightConnector1">
            <a:avLst/>
          </a:prstGeom>
          <a:noFill/>
          <a:ln cap="flat" cmpd="sng" w="25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" name="Google Shape;33;g3a6045bda6f_0_100"/>
          <p:cNvSpPr txBox="1"/>
          <p:nvPr>
            <p:ph type="title"/>
          </p:nvPr>
        </p:nvSpPr>
        <p:spPr>
          <a:xfrm>
            <a:off x="3200333" y="767933"/>
            <a:ext cx="8428800" cy="8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34" name="Google Shape;34;g3a6045bda6f_0_100"/>
          <p:cNvSpPr txBox="1"/>
          <p:nvPr>
            <p:ph idx="1" type="body"/>
          </p:nvPr>
        </p:nvSpPr>
        <p:spPr>
          <a:xfrm>
            <a:off x="3213483" y="2127701"/>
            <a:ext cx="8428800" cy="40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35" name="Google Shape;35;g3a6045bda6f_0_100"/>
          <p:cNvSpPr txBox="1"/>
          <p:nvPr>
            <p:ph idx="12" type="sldNum"/>
          </p:nvPr>
        </p:nvSpPr>
        <p:spPr>
          <a:xfrm>
            <a:off x="11330666" y="6251679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" name="Google Shape;37;g3a6045bda6f_0_107"/>
          <p:cNvCxnSpPr/>
          <p:nvPr/>
        </p:nvCxnSpPr>
        <p:spPr>
          <a:xfrm>
            <a:off x="3303633" y="554200"/>
            <a:ext cx="8325600" cy="0"/>
          </a:xfrm>
          <a:prstGeom prst="straightConnector1">
            <a:avLst/>
          </a:prstGeom>
          <a:noFill/>
          <a:ln cap="flat" cmpd="sng" w="508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" name="Google Shape;38;g3a6045bda6f_0_107"/>
          <p:cNvCxnSpPr/>
          <p:nvPr/>
        </p:nvCxnSpPr>
        <p:spPr>
          <a:xfrm>
            <a:off x="3303633" y="6320000"/>
            <a:ext cx="8325600" cy="0"/>
          </a:xfrm>
          <a:prstGeom prst="straightConnector1">
            <a:avLst/>
          </a:prstGeom>
          <a:noFill/>
          <a:ln cap="flat" cmpd="sng" w="25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" name="Google Shape;39;g3a6045bda6f_0_107"/>
          <p:cNvCxnSpPr/>
          <p:nvPr/>
        </p:nvCxnSpPr>
        <p:spPr>
          <a:xfrm>
            <a:off x="566931" y="554200"/>
            <a:ext cx="244500" cy="0"/>
          </a:xfrm>
          <a:prstGeom prst="straightConnector1">
            <a:avLst/>
          </a:prstGeom>
          <a:noFill/>
          <a:ln cap="flat" cmpd="sng" w="25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" name="Google Shape;40;g3a6045bda6f_0_107"/>
          <p:cNvSpPr txBox="1"/>
          <p:nvPr>
            <p:ph type="title"/>
          </p:nvPr>
        </p:nvSpPr>
        <p:spPr>
          <a:xfrm>
            <a:off x="3200333" y="767933"/>
            <a:ext cx="8428800" cy="8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41" name="Google Shape;41;g3a6045bda6f_0_107"/>
          <p:cNvSpPr txBox="1"/>
          <p:nvPr>
            <p:ph idx="1" type="body"/>
          </p:nvPr>
        </p:nvSpPr>
        <p:spPr>
          <a:xfrm>
            <a:off x="3200403" y="2136900"/>
            <a:ext cx="4095300" cy="40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42" name="Google Shape;42;g3a6045bda6f_0_107"/>
          <p:cNvSpPr txBox="1"/>
          <p:nvPr>
            <p:ph idx="2" type="body"/>
          </p:nvPr>
        </p:nvSpPr>
        <p:spPr>
          <a:xfrm>
            <a:off x="7534096" y="2136900"/>
            <a:ext cx="4095300" cy="40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43" name="Google Shape;43;g3a6045bda6f_0_107"/>
          <p:cNvSpPr txBox="1"/>
          <p:nvPr>
            <p:ph idx="12" type="sldNum"/>
          </p:nvPr>
        </p:nvSpPr>
        <p:spPr>
          <a:xfrm>
            <a:off x="11330666" y="6251679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a6045bda6f_0_115"/>
          <p:cNvSpPr txBox="1"/>
          <p:nvPr>
            <p:ph type="title"/>
          </p:nvPr>
        </p:nvSpPr>
        <p:spPr>
          <a:xfrm>
            <a:off x="404400" y="548767"/>
            <a:ext cx="11360700" cy="8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46" name="Google Shape;46;g3a6045bda6f_0_115"/>
          <p:cNvSpPr txBox="1"/>
          <p:nvPr>
            <p:ph idx="12" type="sldNum"/>
          </p:nvPr>
        </p:nvSpPr>
        <p:spPr>
          <a:xfrm>
            <a:off x="11330666" y="6251679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8" name="Google Shape;48;g3a6045bda6f_0_118"/>
          <p:cNvCxnSpPr/>
          <p:nvPr/>
        </p:nvCxnSpPr>
        <p:spPr>
          <a:xfrm>
            <a:off x="566931" y="554200"/>
            <a:ext cx="244500" cy="0"/>
          </a:xfrm>
          <a:prstGeom prst="straightConnector1">
            <a:avLst/>
          </a:prstGeom>
          <a:noFill/>
          <a:ln cap="flat" cmpd="sng" w="25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" name="Google Shape;49;g3a6045bda6f_0_118"/>
          <p:cNvSpPr txBox="1"/>
          <p:nvPr>
            <p:ph type="title"/>
          </p:nvPr>
        </p:nvSpPr>
        <p:spPr>
          <a:xfrm>
            <a:off x="426000" y="1248800"/>
            <a:ext cx="3744000" cy="10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50" name="Google Shape;50;g3a6045bda6f_0_118"/>
          <p:cNvSpPr txBox="1"/>
          <p:nvPr>
            <p:ph idx="1" type="body"/>
          </p:nvPr>
        </p:nvSpPr>
        <p:spPr>
          <a:xfrm>
            <a:off x="426000" y="2462405"/>
            <a:ext cx="3744000" cy="37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51" name="Google Shape;51;g3a6045bda6f_0_118"/>
          <p:cNvSpPr txBox="1"/>
          <p:nvPr>
            <p:ph idx="12" type="sldNum"/>
          </p:nvPr>
        </p:nvSpPr>
        <p:spPr>
          <a:xfrm>
            <a:off x="11330666" y="6251679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3" name="Google Shape;53;g3a6045bda6f_0_123"/>
          <p:cNvCxnSpPr/>
          <p:nvPr/>
        </p:nvCxnSpPr>
        <p:spPr>
          <a:xfrm>
            <a:off x="566931" y="554200"/>
            <a:ext cx="244500" cy="0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" name="Google Shape;54;g3a6045bda6f_0_123"/>
          <p:cNvSpPr txBox="1"/>
          <p:nvPr>
            <p:ph type="title"/>
          </p:nvPr>
        </p:nvSpPr>
        <p:spPr>
          <a:xfrm>
            <a:off x="377471" y="949521"/>
            <a:ext cx="8325600" cy="511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5" name="Google Shape;55;g3a6045bda6f_0_123"/>
          <p:cNvSpPr txBox="1"/>
          <p:nvPr>
            <p:ph idx="12" type="sldNum"/>
          </p:nvPr>
        </p:nvSpPr>
        <p:spPr>
          <a:xfrm>
            <a:off x="11330666" y="6251679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6045bda6f_0_127"/>
          <p:cNvSpPr/>
          <p:nvPr/>
        </p:nvSpPr>
        <p:spPr>
          <a:xfrm>
            <a:off x="6096000" y="167"/>
            <a:ext cx="6096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8" name="Google Shape;58;g3a6045bda6f_0_127"/>
          <p:cNvCxnSpPr/>
          <p:nvPr/>
        </p:nvCxnSpPr>
        <p:spPr>
          <a:xfrm>
            <a:off x="6706233" y="5994000"/>
            <a:ext cx="624300" cy="0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9" name="Google Shape;59;g3a6045bda6f_0_127"/>
          <p:cNvSpPr txBox="1"/>
          <p:nvPr>
            <p:ph type="title"/>
          </p:nvPr>
        </p:nvSpPr>
        <p:spPr>
          <a:xfrm>
            <a:off x="354000" y="1863133"/>
            <a:ext cx="5393700" cy="17577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0" name="Google Shape;60;g3a6045bda6f_0_127"/>
          <p:cNvSpPr txBox="1"/>
          <p:nvPr>
            <p:ph idx="1" type="subTitle"/>
          </p:nvPr>
        </p:nvSpPr>
        <p:spPr>
          <a:xfrm>
            <a:off x="354000" y="3647161"/>
            <a:ext cx="5393700" cy="17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1" name="Google Shape;61;g3a6045bda6f_0_127"/>
          <p:cNvSpPr txBox="1"/>
          <p:nvPr>
            <p:ph idx="2" type="body"/>
          </p:nvPr>
        </p:nvSpPr>
        <p:spPr>
          <a:xfrm>
            <a:off x="6586000" y="965600"/>
            <a:ext cx="5115900" cy="49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  <a:defRPr>
                <a:solidFill>
                  <a:schemeClr val="lt1"/>
                </a:solidFill>
              </a:defRPr>
            </a:lvl1pPr>
            <a:lvl2pPr indent="-3492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2pPr>
            <a:lvl3pPr indent="-3492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3pPr>
            <a:lvl4pPr indent="-3492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  <a:defRPr>
                <a:solidFill>
                  <a:schemeClr val="lt1"/>
                </a:solidFill>
              </a:defRPr>
            </a:lvl4pPr>
            <a:lvl5pPr indent="-3492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5pPr>
            <a:lvl6pPr indent="-3492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6pPr>
            <a:lvl7pPr indent="-3492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  <a:defRPr>
                <a:solidFill>
                  <a:schemeClr val="lt1"/>
                </a:solidFill>
              </a:defRPr>
            </a:lvl7pPr>
            <a:lvl8pPr indent="-3492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8pPr>
            <a:lvl9pPr indent="-3492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2" name="Google Shape;62;g3a6045bda6f_0_127"/>
          <p:cNvSpPr txBox="1"/>
          <p:nvPr>
            <p:ph idx="12" type="sldNum"/>
          </p:nvPr>
        </p:nvSpPr>
        <p:spPr>
          <a:xfrm>
            <a:off x="11330666" y="6251679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4" name="Google Shape;64;g3a6045bda6f_0_134"/>
          <p:cNvCxnSpPr/>
          <p:nvPr/>
        </p:nvCxnSpPr>
        <p:spPr>
          <a:xfrm>
            <a:off x="566934" y="6320000"/>
            <a:ext cx="11062500" cy="0"/>
          </a:xfrm>
          <a:prstGeom prst="straightConnector1">
            <a:avLst/>
          </a:prstGeom>
          <a:noFill/>
          <a:ln cap="flat" cmpd="sng" w="25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" name="Google Shape;65;g3a6045bda6f_0_134"/>
          <p:cNvCxnSpPr/>
          <p:nvPr/>
        </p:nvCxnSpPr>
        <p:spPr>
          <a:xfrm>
            <a:off x="566931" y="554200"/>
            <a:ext cx="244500" cy="0"/>
          </a:xfrm>
          <a:prstGeom prst="straightConnector1">
            <a:avLst/>
          </a:prstGeom>
          <a:noFill/>
          <a:ln cap="flat" cmpd="sng" w="25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6" name="Google Shape;66;g3a6045bda6f_0_134"/>
          <p:cNvSpPr txBox="1"/>
          <p:nvPr>
            <p:ph idx="1" type="body"/>
          </p:nvPr>
        </p:nvSpPr>
        <p:spPr>
          <a:xfrm>
            <a:off x="437356" y="5634700"/>
            <a:ext cx="111849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67" name="Google Shape;67;g3a6045bda6f_0_134"/>
          <p:cNvSpPr txBox="1"/>
          <p:nvPr>
            <p:ph idx="12" type="sldNum"/>
          </p:nvPr>
        </p:nvSpPr>
        <p:spPr>
          <a:xfrm>
            <a:off x="11330666" y="6251679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9" name="Google Shape;69;g3a6045bda6f_0_139"/>
          <p:cNvCxnSpPr/>
          <p:nvPr/>
        </p:nvCxnSpPr>
        <p:spPr>
          <a:xfrm>
            <a:off x="566934" y="6320000"/>
            <a:ext cx="11062500" cy="0"/>
          </a:xfrm>
          <a:prstGeom prst="straightConnector1">
            <a:avLst/>
          </a:prstGeom>
          <a:noFill/>
          <a:ln cap="flat" cmpd="sng" w="25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" name="Google Shape;70;g3a6045bda6f_0_139"/>
          <p:cNvCxnSpPr/>
          <p:nvPr/>
        </p:nvCxnSpPr>
        <p:spPr>
          <a:xfrm>
            <a:off x="566934" y="554200"/>
            <a:ext cx="11062500" cy="0"/>
          </a:xfrm>
          <a:prstGeom prst="straightConnector1">
            <a:avLst/>
          </a:prstGeom>
          <a:noFill/>
          <a:ln cap="flat" cmpd="sng" w="508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1" name="Google Shape;71;g3a6045bda6f_0_139"/>
          <p:cNvSpPr txBox="1"/>
          <p:nvPr>
            <p:ph hasCustomPrompt="1" type="title"/>
          </p:nvPr>
        </p:nvSpPr>
        <p:spPr>
          <a:xfrm>
            <a:off x="1138600" y="1739800"/>
            <a:ext cx="9914700" cy="205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Lato"/>
              <a:buNone/>
              <a:defRPr sz="1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Lato"/>
              <a:buNone/>
              <a:defRPr sz="1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Lato"/>
              <a:buNone/>
              <a:defRPr sz="1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Lato"/>
              <a:buNone/>
              <a:defRPr sz="1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Lato"/>
              <a:buNone/>
              <a:defRPr sz="1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Lato"/>
              <a:buNone/>
              <a:defRPr sz="1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Lato"/>
              <a:buNone/>
              <a:defRPr sz="1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Lato"/>
              <a:buNone/>
              <a:defRPr sz="1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Lato"/>
              <a:buNone/>
              <a:defRPr sz="1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72" name="Google Shape;72;g3a6045bda6f_0_139"/>
          <p:cNvSpPr txBox="1"/>
          <p:nvPr>
            <p:ph idx="1" type="body"/>
          </p:nvPr>
        </p:nvSpPr>
        <p:spPr>
          <a:xfrm>
            <a:off x="1138600" y="3892600"/>
            <a:ext cx="9914700" cy="14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73" name="Google Shape;73;g3a6045bda6f_0_139"/>
          <p:cNvSpPr txBox="1"/>
          <p:nvPr>
            <p:ph idx="12" type="sldNum"/>
          </p:nvPr>
        </p:nvSpPr>
        <p:spPr>
          <a:xfrm>
            <a:off x="11330666" y="6251679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wiss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a6045bda6f_0_84"/>
          <p:cNvSpPr txBox="1"/>
          <p:nvPr>
            <p:ph type="title"/>
          </p:nvPr>
        </p:nvSpPr>
        <p:spPr>
          <a:xfrm>
            <a:off x="3200333" y="767933"/>
            <a:ext cx="8428800" cy="8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Raleway"/>
              <a:buNone/>
              <a:defRPr b="1" i="0" sz="4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Raleway"/>
              <a:buNone/>
              <a:defRPr b="1" i="0" sz="4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Raleway"/>
              <a:buNone/>
              <a:defRPr b="1" i="0" sz="4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Raleway"/>
              <a:buNone/>
              <a:defRPr b="1" i="0" sz="4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Raleway"/>
              <a:buNone/>
              <a:defRPr b="1" i="0" sz="4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Raleway"/>
              <a:buNone/>
              <a:defRPr b="1" i="0" sz="4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Raleway"/>
              <a:buNone/>
              <a:defRPr b="1" i="0" sz="4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Raleway"/>
              <a:buNone/>
              <a:defRPr b="1" i="0" sz="4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Raleway"/>
              <a:buNone/>
              <a:defRPr b="1" i="0" sz="4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g3a6045bda6f_0_84"/>
          <p:cNvSpPr txBox="1"/>
          <p:nvPr>
            <p:ph idx="1" type="body"/>
          </p:nvPr>
        </p:nvSpPr>
        <p:spPr>
          <a:xfrm>
            <a:off x="3213483" y="2127701"/>
            <a:ext cx="8428800" cy="40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Lato"/>
              <a:buChar char="●"/>
              <a:defRPr b="0" i="0" sz="24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92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ato"/>
              <a:buChar char="○"/>
              <a:defRPr b="0" i="0" sz="19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492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ato"/>
              <a:buChar char="■"/>
              <a:defRPr b="0" i="0" sz="19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492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ato"/>
              <a:buChar char="●"/>
              <a:defRPr b="0" i="0" sz="19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492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ato"/>
              <a:buChar char="○"/>
              <a:defRPr b="0" i="0" sz="19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492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ato"/>
              <a:buChar char="■"/>
              <a:defRPr b="0" i="0" sz="19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492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ato"/>
              <a:buChar char="●"/>
              <a:defRPr b="0" i="0" sz="19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492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ato"/>
              <a:buChar char="○"/>
              <a:defRPr b="0" i="0" sz="19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492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ato"/>
              <a:buChar char="■"/>
              <a:defRPr b="0" i="0" sz="19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g3a6045bda6f_0_84"/>
          <p:cNvSpPr txBox="1"/>
          <p:nvPr>
            <p:ph idx="12" type="sldNum"/>
          </p:nvPr>
        </p:nvSpPr>
        <p:spPr>
          <a:xfrm>
            <a:off x="11330666" y="6251679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Relationship Id="rId4" Type="http://schemas.openxmlformats.org/officeDocument/2006/relationships/image" Target="../media/image1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Relationship Id="rId4" Type="http://schemas.openxmlformats.org/officeDocument/2006/relationships/image" Target="../media/image20.png"/><Relationship Id="rId5" Type="http://schemas.openxmlformats.org/officeDocument/2006/relationships/image" Target="../media/image4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Relationship Id="rId4" Type="http://schemas.openxmlformats.org/officeDocument/2006/relationships/image" Target="../media/image21.png"/><Relationship Id="rId5" Type="http://schemas.openxmlformats.org/officeDocument/2006/relationships/image" Target="../media/image32.png"/><Relationship Id="rId6" Type="http://schemas.openxmlformats.org/officeDocument/2006/relationships/image" Target="../media/image4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jpg"/><Relationship Id="rId4" Type="http://schemas.openxmlformats.org/officeDocument/2006/relationships/image" Target="../media/image22.png"/><Relationship Id="rId5" Type="http://schemas.openxmlformats.org/officeDocument/2006/relationships/image" Target="../media/image4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3.png"/><Relationship Id="rId4" Type="http://schemas.openxmlformats.org/officeDocument/2006/relationships/image" Target="../media/image4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jpg"/><Relationship Id="rId4" Type="http://schemas.openxmlformats.org/officeDocument/2006/relationships/image" Target="../media/image23.png"/><Relationship Id="rId5" Type="http://schemas.openxmlformats.org/officeDocument/2006/relationships/image" Target="../media/image34.png"/><Relationship Id="rId6" Type="http://schemas.openxmlformats.org/officeDocument/2006/relationships/image" Target="../media/image4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jpg"/><Relationship Id="rId4" Type="http://schemas.openxmlformats.org/officeDocument/2006/relationships/image" Target="../media/image24.png"/><Relationship Id="rId5" Type="http://schemas.openxmlformats.org/officeDocument/2006/relationships/image" Target="../media/image4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jpg"/><Relationship Id="rId4" Type="http://schemas.openxmlformats.org/officeDocument/2006/relationships/image" Target="../media/image25.png"/><Relationship Id="rId5" Type="http://schemas.openxmlformats.org/officeDocument/2006/relationships/image" Target="../media/image4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jpg"/><Relationship Id="rId4" Type="http://schemas.openxmlformats.org/officeDocument/2006/relationships/image" Target="../media/image26.png"/><Relationship Id="rId5" Type="http://schemas.openxmlformats.org/officeDocument/2006/relationships/image" Target="../media/image4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jpg"/><Relationship Id="rId4" Type="http://schemas.openxmlformats.org/officeDocument/2006/relationships/image" Target="../media/image27.png"/><Relationship Id="rId5" Type="http://schemas.openxmlformats.org/officeDocument/2006/relationships/image" Target="../media/image5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jpg"/><Relationship Id="rId4" Type="http://schemas.openxmlformats.org/officeDocument/2006/relationships/image" Target="../media/image36.png"/><Relationship Id="rId5" Type="http://schemas.openxmlformats.org/officeDocument/2006/relationships/image" Target="../media/image5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7.jpg"/><Relationship Id="rId4" Type="http://schemas.openxmlformats.org/officeDocument/2006/relationships/image" Target="../media/image28.png"/><Relationship Id="rId5" Type="http://schemas.openxmlformats.org/officeDocument/2006/relationships/image" Target="../media/image3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6.jpg"/><Relationship Id="rId4" Type="http://schemas.openxmlformats.org/officeDocument/2006/relationships/image" Target="../media/image29.png"/><Relationship Id="rId5" Type="http://schemas.openxmlformats.org/officeDocument/2006/relationships/image" Target="../media/image3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3.jpg"/><Relationship Id="rId4" Type="http://schemas.openxmlformats.org/officeDocument/2006/relationships/image" Target="../media/image30.png"/><Relationship Id="rId5" Type="http://schemas.openxmlformats.org/officeDocument/2006/relationships/image" Target="../media/image5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8.jpg"/><Relationship Id="rId4" Type="http://schemas.openxmlformats.org/officeDocument/2006/relationships/image" Target="../media/image31.png"/><Relationship Id="rId5" Type="http://schemas.openxmlformats.org/officeDocument/2006/relationships/image" Target="../media/image5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F290A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"/>
          <p:cNvSpPr/>
          <p:nvPr/>
        </p:nvSpPr>
        <p:spPr>
          <a:xfrm>
            <a:off x="4267200" y="1648919"/>
            <a:ext cx="3816616" cy="3479228"/>
          </a:xfrm>
          <a:custGeom>
            <a:rect b="b" l="l" r="r" t="t"/>
            <a:pathLst>
              <a:path extrusionOk="0" h="6601704" w="7169883">
                <a:moveTo>
                  <a:pt x="0" y="0"/>
                </a:moveTo>
                <a:lnTo>
                  <a:pt x="7169883" y="0"/>
                </a:lnTo>
                <a:lnTo>
                  <a:pt x="7169883" y="6601704"/>
                </a:lnTo>
                <a:lnTo>
                  <a:pt x="0" y="66017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12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"/>
          <p:cNvSpPr txBox="1"/>
          <p:nvPr/>
        </p:nvSpPr>
        <p:spPr>
          <a:xfrm>
            <a:off x="2125518" y="2110647"/>
            <a:ext cx="81000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BEYOND THE PRIVACY-UTILITY TRADE-OFF: A</a:t>
            </a:r>
            <a:endParaRPr b="1" sz="240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SPATIOTEMPORAL-CONSTRAINT AND SECURE</a:t>
            </a:r>
            <a:endParaRPr b="1" sz="240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INTELLIGENT CAMPUS MONITORING SYSTEM</a:t>
            </a:r>
            <a:endParaRPr b="1" sz="240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40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" name="Google Shape;80;p1"/>
          <p:cNvSpPr txBox="1"/>
          <p:nvPr/>
        </p:nvSpPr>
        <p:spPr>
          <a:xfrm>
            <a:off x="1828800" y="429320"/>
            <a:ext cx="8763000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79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E36C0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SWARNANDHRA COLLEGE OF ENGINEERING AND TECHNOLOGY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"/>
          <p:cNvSpPr txBox="1"/>
          <p:nvPr/>
        </p:nvSpPr>
        <p:spPr>
          <a:xfrm>
            <a:off x="2045957" y="1039125"/>
            <a:ext cx="81000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79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&amp; ENGINEERING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"/>
          <p:cNvSpPr txBox="1"/>
          <p:nvPr/>
        </p:nvSpPr>
        <p:spPr>
          <a:xfrm>
            <a:off x="3019492" y="1657043"/>
            <a:ext cx="6381600" cy="3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97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93B3D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PROJECT REVIEW PRESENTATION 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"/>
          <p:cNvSpPr txBox="1"/>
          <p:nvPr/>
        </p:nvSpPr>
        <p:spPr>
          <a:xfrm>
            <a:off x="3746826" y="3849616"/>
            <a:ext cx="4572000" cy="16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1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3B3D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30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FDE9D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175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DE9D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 NARENDRA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567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DE9D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Roll NO: 24A21D5827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567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DE9D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II M. Tech (CSE)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567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FDE9D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" name="Google Shape;84;p1"/>
          <p:cNvSpPr txBox="1"/>
          <p:nvPr/>
        </p:nvSpPr>
        <p:spPr>
          <a:xfrm>
            <a:off x="3586925" y="5220325"/>
            <a:ext cx="48918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>
                <a:solidFill>
                  <a:srgbClr val="FFFFFF"/>
                </a:solidFill>
                <a:latin typeface="Times New Roman"/>
              </a:defRPr>
            </a:pPr>
            <a:r>
              <a:t>Under the Guidance of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1">
                <a:solidFill>
                  <a:srgbClr val="FFDF08"/>
                </a:solidFill>
                <a:latin typeface="Times New Roman"/>
              </a:rPr>
              <a:t>Dr. S. Suresh Kumar, M.Tech, Ph.D, PDF</a:t>
            </a:r>
            <a:endParaRPr b="1" i="0" sz="2000" u="none" cap="none" strike="noStrike">
              <a:solidFill>
                <a:srgbClr val="FFDF0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1800" b="0">
                <a:solidFill>
                  <a:srgbClr val="93B3D7"/>
                </a:solidFill>
                <a:latin typeface="Times New Roman"/>
              </a:rPr>
              <a:t>Professor &amp; Principal, Dept. of CSE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11805975" y="2270950"/>
            <a:ext cx="914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lay"/>
              <a:buNone/>
            </a:pPr>
            <a:r>
              <a:rPr lang="en-US">
                <a:solidFill>
                  <a:srgbClr val="1C458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640080" y="182880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  <a:latin typeface="Arial"/>
              </a:defRPr>
            </a:pPr>
            <a:r>
              <a:t>• Privacy-Utility Conflict:</a:t>
            </a:r>
            <a:br/>
            <a:r>
              <a:t>  Automating attendance and safety checks without storing high-risk permanent biometric databases.</a:t>
            </a:r>
            <a:br/>
            <a:br/>
            <a:r>
              <a:t>• GDPR Liabilities:</a:t>
            </a:r>
            <a:br/>
            <a:r>
              <a:t>  Central databases face severe leak risks and violate GDPR Article 25 (Privacy-by-Design).</a:t>
            </a:r>
            <a:br/>
            <a:br/>
            <a:r>
              <a:t>• Edge Mitigations:</a:t>
            </a:r>
            <a:br/>
            <a:r>
              <a:t>  Resolved via edge vector templates and 33ms volatile RAM cache buffers.</a:t>
            </a:r>
          </a:p>
        </p:txBody>
      </p:sp>
      <p:pic>
        <p:nvPicPr>
          <p:cNvPr id="92" name="Picture 9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1645920"/>
            <a:ext cx="676656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a6045bda6f_0_43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Motivation &amp; Objectives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640080" y="12801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4B5563"/>
                </a:solidFill>
                <a:latin typeface="Arial"/>
              </a:defRPr>
            </a:pPr>
            <a:r>
              <a:t>Core pillars of the system: edge automation, GDPR privacy, and cryptographic auditing.</a:t>
            </a:r>
          </a:p>
        </p:txBody>
      </p:sp>
      <p:pic>
        <p:nvPicPr>
          <p:cNvPr id="100" name="Picture 99" descr="slide_3_objectiv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1828800"/>
            <a:ext cx="1088136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a6045bda6f_0_61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Existing vs. Proposed System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640080" y="12801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4B5563"/>
                </a:solidFill>
                <a:latin typeface="Arial"/>
              </a:defRPr>
            </a:pPr>
            <a:r>
              <a:t>Contrasting the high-risk manual RFID roll-call flow with the proposed secure edge-to-ledger sensing pipeline.</a:t>
            </a:r>
          </a:p>
        </p:txBody>
      </p:sp>
      <p:pic>
        <p:nvPicPr>
          <p:cNvPr id="107" name="Picture 106" descr="slide_4_comparis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4440" y="1828800"/>
            <a:ext cx="9710928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b13e486e5b_0_2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Concentric Onion Architecture (Design)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640080" y="12801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4B5563"/>
                </a:solidFill>
                <a:latin typeface="Arial"/>
              </a:defRPr>
            </a:pPr>
            <a:r>
              <a:t>Multi-layered boundary isolation protecting raw sensor capture from Streamlit presentation layers.</a:t>
            </a:r>
          </a:p>
        </p:txBody>
      </p:sp>
      <p:pic>
        <p:nvPicPr>
          <p:cNvPr id="115" name="Picture 114" descr="slide_5_on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51760" y="1828800"/>
            <a:ext cx="6858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b13e486e5b_0_15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Technology Stack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" name="TextBox 120"/>
          <p:cNvSpPr txBox="1"/>
          <p:nvPr/>
        </p:nvSpPr>
        <p:spPr>
          <a:xfrm>
            <a:off x="640080" y="12801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4B5563"/>
                </a:solidFill>
                <a:latin typeface="Arial"/>
              </a:defRPr>
            </a:pPr>
            <a:r>
              <a:t>Layered technology pipeline mapping structural dependencies from raw sensors up to administrative UI panels.</a:t>
            </a:r>
          </a:p>
        </p:txBody>
      </p:sp>
      <p:pic>
        <p:nvPicPr>
          <p:cNvPr id="122" name="Picture 121" descr="slide_6_tech_sta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3936" y="1828800"/>
            <a:ext cx="864108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b13e486e5b_0_22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Multi-Threaded Runtime Architecture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7" name="Picture 126" descr="slide_7_runtime_threa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828800"/>
            <a:ext cx="5925312" cy="4114800"/>
          </a:xfrm>
          <a:prstGeom prst="rect">
            <a:avLst/>
          </a:prstGeom>
        </p:spPr>
      </p:pic>
      <p:graphicFrame>
        <p:nvGraphicFramePr>
          <p:cNvPr id="128" name="Table 127"/>
          <p:cNvGraphicFramePr>
            <a:graphicFrameLocks noGrp="1"/>
          </p:cNvGraphicFramePr>
          <p:nvPr/>
        </p:nvGraphicFramePr>
        <p:xfrm>
          <a:off x="6583680" y="1828800"/>
          <a:ext cx="49377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</a:tblGrid>
              <a:tr h="68580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Thread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Interval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Core Function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Video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30 FPS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Face Recognition &amp; Pose extraction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Audio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100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Acoustic anomaly spectral analysis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Compliance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5 sec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ST-CSF constraint timetable checking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Power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10 sec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Resource &amp; CPU thermal monitoring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Dashboard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1 sec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Terminal status console updates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b13e486e5b_0_31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Biometric Open-Set Identification Pipeline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" name="TextBox 132"/>
          <p:cNvSpPr txBox="1"/>
          <p:nvPr/>
        </p:nvSpPr>
        <p:spPr>
          <a:xfrm>
            <a:off x="640080" y="12801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4B5563"/>
                </a:solidFill>
                <a:latin typeface="Arial"/>
              </a:defRPr>
            </a:pPr>
            <a:r>
              <a:t>Biometric search chain utilizing local YOLOv8-Face detection and FAISS nearest-neighbor matching.</a:t>
            </a:r>
          </a:p>
        </p:txBody>
      </p:sp>
      <p:pic>
        <p:nvPicPr>
          <p:cNvPr id="134" name="Picture 133" descr="slide_8_pipelin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4440" y="1828800"/>
            <a:ext cx="9710928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13e486e5b_0_39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Behavior and Pose Tracking Layer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640080" y="182880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  <a:latin typeface="Arial"/>
              </a:defRPr>
            </a:pPr>
            <a:r>
              <a:t>• YOLOv8-pose Ingest:</a:t>
            </a:r>
            <a:br/>
            <a:r>
              <a:t>  Extracts 17 human skeleton keypoints locally in real-time.</a:t>
            </a:r>
            <a:br/>
            <a:br/>
            <a:r>
              <a:t>• Joint Coordinate Vectors:</a:t>
            </a:r>
            <a:br/>
            <a:r>
              <a:t>  Tracks Shoulder-Elbow (V1) and Elbow-Wrist (V2) vectors.</a:t>
            </a:r>
            <a:br/>
            <a:br/>
            <a:r>
              <a:t>• Hand-Raise Trigger:</a:t>
            </a:r>
            <a:br/>
            <a:r>
              <a:t>  Detects hand raising when wrist Y is below shoulder Y and joint angle exceeds 140°.</a:t>
            </a:r>
          </a:p>
        </p:txBody>
      </p:sp>
      <p:pic>
        <p:nvPicPr>
          <p:cNvPr id="141" name="Picture 140" descr="slide_9_po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1645920"/>
            <a:ext cx="6766560" cy="470001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b13e486e5b_0_55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Acoustic Anomaly Detection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" name="TextBox 146"/>
          <p:cNvSpPr txBox="1"/>
          <p:nvPr/>
        </p:nvSpPr>
        <p:spPr>
          <a:xfrm>
            <a:off x="640080" y="182880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  <a:latin typeface="Arial"/>
              </a:defRPr>
            </a:pPr>
            <a:r>
              <a:t>• Environment Sampling:</a:t>
            </a:r>
            <a:br/>
            <a:r>
              <a:t>  Monitors classroom noise levels in 100ms frames via Fast Fourier Transform (FFT).</a:t>
            </a:r>
            <a:br/>
            <a:br/>
            <a:r>
              <a:t>• Privacy Preservation:</a:t>
            </a:r>
            <a:br/>
            <a:r>
              <a:t>  Calculates non-semantic parameters (Centroid, ZCR, Flux) preventing voice reconstruction.</a:t>
            </a:r>
            <a:br/>
            <a:br/>
            <a:r>
              <a:t>• Context-Aware Limits:</a:t>
            </a:r>
            <a:br/>
            <a:r>
              <a:t>  Strict thresholds during exams, automatically relaxed during normal class breaks.</a:t>
            </a:r>
          </a:p>
        </p:txBody>
      </p:sp>
      <p:pic>
        <p:nvPicPr>
          <p:cNvPr id="148" name="Picture 14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828800"/>
            <a:ext cx="6766560" cy="423367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b13e486e5b_0_63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Spatiotemporal Constraint Satisfaction (ST-CSF)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TextBox 152"/>
          <p:cNvSpPr txBox="1"/>
          <p:nvPr/>
        </p:nvSpPr>
        <p:spPr>
          <a:xfrm>
            <a:off x="640080" y="12801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4B5563"/>
                </a:solidFill>
                <a:latin typeface="Arial"/>
              </a:defRPr>
            </a:pPr>
            <a:r>
              <a:t>Timetable constraints and transition speed limits verifying physical student presence locations.</a:t>
            </a:r>
          </a:p>
        </p:txBody>
      </p:sp>
      <p:pic>
        <p:nvPicPr>
          <p:cNvPr id="154" name="Picture 153" descr="slide_11_stcs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1828800"/>
            <a:ext cx="10863072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a6045bda6f_0_77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Backtracking Timetable Scheduler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0" name="TextBox 159"/>
          <p:cNvSpPr txBox="1"/>
          <p:nvPr/>
        </p:nvSpPr>
        <p:spPr>
          <a:xfrm>
            <a:off x="640080" y="182880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  <a:latin typeface="Arial"/>
              </a:defRPr>
            </a:pPr>
            <a:r>
              <a:t>• CSP Formalization:</a:t>
            </a:r>
            <a:br/>
            <a:r>
              <a:t>  Courses represent variables; domains represent Room × Time-slots.</a:t>
            </a:r>
            <a:br/>
            <a:br/>
            <a:r>
              <a:t>• Heuristics Pruning:</a:t>
            </a:r>
            <a:br/>
            <a:r>
              <a:t>  Uses Minimum-Remaining-Values (MRV) and Least-Constraining-Value (LCV).</a:t>
            </a:r>
            <a:br/>
            <a:br/>
            <a:r>
              <a:t>• Conflict Free:</a:t>
            </a:r>
            <a:br/>
            <a:r>
              <a:t>  Forward checking prunes overlaps, accelerating timetabling search.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5486400" y="1828800"/>
            <a:ext cx="6035040" cy="411480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65F46"/>
                </a:solidFill>
                <a:latin typeface="Arial"/>
              </a:defRPr>
            </a:pPr>
            <a:r>
              <a:t>CSP SCHEDULER HARD CONSTRAINTS</a:t>
            </a:r>
          </a:p>
          <a:p>
            <a:br/>
            <a:pPr>
              <a:lnSpc>
                <a:spcPct val="130000"/>
              </a:lnSpc>
              <a:defRPr sz="1000">
                <a:solidFill>
                  <a:srgbClr val="374151"/>
                </a:solidFill>
                <a:latin typeface="Arial"/>
              </a:defRPr>
            </a:pPr>
            <a:r>
              <a:t>1. Room Capacity Constraint:</a:t>
            </a:r>
            <a:br/>
            <a:r>
              <a:t>   RoomCapacity(R_i) &gt;= StudentEnrollment(C_j)</a:t>
            </a:r>
            <a:br/>
            <a:br/>
            <a:r>
              <a:t>2. Room Non-Overlapping Constraint:</a:t>
            </a:r>
            <a:br/>
            <a:r>
              <a:t>   Room(C_a) != Room(C_b) if TimeOverlap(C_a, C_b)</a:t>
            </a:r>
            <a:br/>
            <a:br/>
            <a:r>
              <a:t>3. Faculty Double-Assignment Constraint:</a:t>
            </a:r>
            <a:br/>
            <a:r>
              <a:t>   Teacher(C_a) != Teacher(C_b) if TimeOverlap(C_a, C_b)</a:t>
            </a:r>
            <a:br/>
            <a:br/>
            <a:r>
              <a:t>4. Semester Separation Constraint:</a:t>
            </a:r>
            <a:br/>
            <a:r>
              <a:t>   Avoid same-semester core classes scheduling overlap.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f15a98193e_0_152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Cryptographic Trust Layer (Audit Ledger)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6" name="TextBox 165"/>
          <p:cNvSpPr txBox="1"/>
          <p:nvPr/>
        </p:nvSpPr>
        <p:spPr>
          <a:xfrm>
            <a:off x="640080" y="12801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4B5563"/>
                </a:solidFill>
                <a:latin typeface="Arial"/>
              </a:defRPr>
            </a:pPr>
            <a:r>
              <a:t>Securing transaction logs by recursively hashing blocks to block backward database attacks.</a:t>
            </a:r>
          </a:p>
        </p:txBody>
      </p:sp>
      <p:pic>
        <p:nvPicPr>
          <p:cNvPr id="167" name="Picture 166" descr="slide_13_ledg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1828800"/>
            <a:ext cx="1088136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f15a98193e_0_167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Database Design &amp; Entity Relationships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3" name="TextBox 172"/>
          <p:cNvSpPr txBox="1"/>
          <p:nvPr/>
        </p:nvSpPr>
        <p:spPr>
          <a:xfrm>
            <a:off x="640080" y="12801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4B5563"/>
                </a:solidFill>
                <a:latin typeface="Arial"/>
              </a:defRPr>
            </a:pPr>
            <a:r>
              <a:t>Local SQLite ER diagram detailing primary/foreign key connections and relationship cardinalities.</a:t>
            </a:r>
          </a:p>
        </p:txBody>
      </p:sp>
      <p:pic>
        <p:nvPicPr>
          <p:cNvPr id="174" name="Picture 173" descr="slide_14_e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4440" y="1828800"/>
            <a:ext cx="9710928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f15a98193e_0_162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Presentation Layer &amp; 7-Role RBAC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0" name="TextBox 179"/>
          <p:cNvSpPr txBox="1"/>
          <p:nvPr/>
        </p:nvSpPr>
        <p:spPr>
          <a:xfrm>
            <a:off x="640080" y="182880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  <a:latin typeface="Arial"/>
              </a:defRPr>
            </a:pPr>
            <a:r>
              <a:t>• UI Framework:</a:t>
            </a:r>
            <a:br/>
            <a:r>
              <a:t>  Streamlit &amp; Plotly Express dashboard with active session state tracking.</a:t>
            </a:r>
            <a:br/>
            <a:br/>
            <a:r>
              <a:t>• Tab Security Gateways:</a:t>
            </a:r>
            <a:br/>
            <a:r>
              <a:t>  Enforces query-level isolation at database boundaries, locks parameters to roles.</a:t>
            </a:r>
            <a:br/>
            <a:br/>
            <a:r>
              <a:t>• 7-Role Alignment:</a:t>
            </a:r>
            <a:br/>
            <a:r>
              <a:t>  Formally implements a 7-Role RBAC matrix mapped into 4 custom dashboard layout configurations.</a:t>
            </a:r>
          </a:p>
        </p:txBody>
      </p:sp>
      <p:graphicFrame>
        <p:nvGraphicFramePr>
          <p:cNvPr id="181" name="Table 180"/>
          <p:cNvGraphicFramePr>
            <a:graphicFrameLocks noGrp="1"/>
          </p:cNvGraphicFramePr>
          <p:nvPr/>
        </p:nvGraphicFramePr>
        <p:xfrm>
          <a:off x="5486400" y="1645920"/>
          <a:ext cx="603504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3017520"/>
              </a:tblGrid>
              <a:tr h="57150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Formal Role (7-Role Model)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Dashboard Mapping &amp; Scoped Privileges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Super Admin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Super Admin View (Full write config, User Mgmt, Audit Ledger)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Admin / 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Faculty Manager View (Dept-restricted write &amp; analytics logs)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Faculty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Faculty View (Assigned course read &amp; attendance override check)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Class Teacher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Faculty View (Assigned cohort read &amp; override check)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Student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Student View (Personal logs read-only, schedule lookup)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Security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Student View + Real-time Alert center log streams lookup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Non-Teaching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Student View (Facility-specific access logs read-only)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f15a98193e_0_157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Implementation Verification (Pytest Suite)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7" name="Google Shape;187;g3f15a98193e_0_157"/>
          <p:cNvSpPr txBox="1"/>
          <p:nvPr/>
        </p:nvSpPr>
        <p:spPr>
          <a:xfrm>
            <a:off x="640075" y="2000250"/>
            <a:ext cx="10890900" cy="39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imes New Roman"/>
              <a:buChar char="●"/>
            </a:pPr>
            <a:r>
              <a:rPr lang="en-US" sz="2400">
                <a:solidFill>
                  <a:schemeClr val="dk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Scope: 316 comprehensive test cases (unit, integration, contract tests).</a:t>
            </a:r>
            <a:endParaRPr sz="2400">
              <a:solidFill>
                <a:schemeClr val="dk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</a:pPr>
            <a:r>
              <a:rPr lang="en-US" sz="2400">
                <a:solidFill>
                  <a:schemeClr val="dk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Core modules verified: test_debounce_logic, test_face_registry, test_attendance_logger, test_gap_remediation.</a:t>
            </a:r>
            <a:endParaRPr sz="2400">
              <a:solidFill>
                <a:schemeClr val="dk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</a:pPr>
            <a:r>
              <a:rPr lang="en-US" sz="2400">
                <a:solidFill>
                  <a:schemeClr val="dk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Execution: Matplotlib local configuration (MPLBACKEND=Agg) to ensure headless test run success.</a:t>
            </a:r>
            <a:endParaRPr sz="2400">
              <a:solidFill>
                <a:schemeClr val="dk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8" name="Google Shape;188;g3f15a98193e_0_157" title="Screenshot 2026-06-19 at 12.27.34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075" y="4254150"/>
            <a:ext cx="10890901" cy="235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f15a98193e_0_195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Experimental Results: Open-Set Biometrics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4" name="TextBox 193"/>
          <p:cNvSpPr txBox="1"/>
          <p:nvPr/>
        </p:nvSpPr>
        <p:spPr>
          <a:xfrm>
            <a:off x="640080" y="12801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4B5563"/>
                </a:solidFill>
                <a:latin typeface="Arial"/>
              </a:defRPr>
            </a:pPr>
            <a:r>
              <a:t>Accuracy metrics bar chart alongside real-time frame processing latency histograms.</a:t>
            </a:r>
          </a:p>
        </p:txBody>
      </p:sp>
      <p:pic>
        <p:nvPicPr>
          <p:cNvPr id="195" name="Picture 194" descr="slide_17_metrics_b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2011680"/>
            <a:ext cx="5303520" cy="3685032"/>
          </a:xfrm>
          <a:prstGeom prst="rect">
            <a:avLst/>
          </a:prstGeom>
        </p:spPr>
      </p:pic>
      <p:pic>
        <p:nvPicPr>
          <p:cNvPr id="196" name="Picture 19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2011680"/>
            <a:ext cx="5303520" cy="368503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f15a98193e_0_190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Experimental Results: Attendance Compliance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1" name="TextBox 200"/>
          <p:cNvSpPr txBox="1"/>
          <p:nvPr/>
        </p:nvSpPr>
        <p:spPr>
          <a:xfrm>
            <a:off x="640080" y="1828800"/>
            <a:ext cx="4114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  <a:latin typeface="Arial"/>
              </a:defRPr>
            </a:pPr>
            <a:r>
              <a:t>• Truancy F1-Score:</a:t>
            </a:r>
            <a:br/>
            <a:r>
              <a:t>  Achieved 97.8% F1-score, with 97.5% Precision and 98.2% Sensitivity.</a:t>
            </a:r>
            <a:br/>
            <a:br/>
            <a:r>
              <a:t>• Debounce Filtering:</a:t>
            </a:r>
            <a:br/>
            <a:r>
              <a:t>  A 30-frame temporal debounce filter reduces false presence alerts by 85%.</a:t>
            </a:r>
            <a:br/>
            <a:br/>
            <a:r>
              <a:t>• Blindspot Detection:</a:t>
            </a:r>
            <a:br/>
            <a:r>
              <a:t>  Acoustic fallback guarantees 100% detection coverage in camera blindspots.</a:t>
            </a:r>
          </a:p>
        </p:txBody>
      </p:sp>
      <p:pic>
        <p:nvPicPr>
          <p:cNvPr id="202" name="Picture 20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1828800"/>
            <a:ext cx="6492240" cy="450799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f15a98193e_0_185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Scalability Analysis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8" name="TextBox 207"/>
          <p:cNvSpPr txBox="1"/>
          <p:nvPr/>
        </p:nvSpPr>
        <p:spPr>
          <a:xfrm>
            <a:off x="640080" y="1828800"/>
            <a:ext cx="4114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  <a:latin typeface="Arial"/>
              </a:defRPr>
            </a:pPr>
            <a:r>
              <a:t>• Memory Scaling:</a:t>
            </a:r>
            <a:br/>
            <a:r>
              <a:t>  Requires only 2 KB per student embedding (200MB index for 100,000 students).</a:t>
            </a:r>
            <a:br/>
            <a:br/>
            <a:r>
              <a:t>• Search Speedup:</a:t>
            </a:r>
            <a:br/>
            <a:r>
              <a:t>  FAISS HNSW search time exhibits near-logarithmic average scaling behavior (3.12ms search for 100k gallery size).</a:t>
            </a:r>
            <a:br/>
            <a:br/>
            <a:r>
              <a:t>• Thermal Stability:</a:t>
            </a:r>
            <a:br/>
            <a:r>
              <a:t>  Zero performance degradation or thermal throttling over 24-hour continuous load stress tests.</a:t>
            </a:r>
          </a:p>
        </p:txBody>
      </p:sp>
      <p:pic>
        <p:nvPicPr>
          <p:cNvPr id="209" name="Picture 20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2286000"/>
            <a:ext cx="6492240" cy="320954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f15a98193e_0_204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GDPR Compliance Mapping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5" name="TextBox 214"/>
          <p:cNvSpPr txBox="1"/>
          <p:nvPr/>
        </p:nvSpPr>
        <p:spPr>
          <a:xfrm>
            <a:off x="640080" y="12801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4B5563"/>
                </a:solidFill>
                <a:latin typeface="Arial"/>
              </a:defRPr>
            </a:pPr>
            <a:r>
              <a:t>Biometric compliance mapping of European GDPR articles to ScholarMaster edge security mechanism boundaries.</a:t>
            </a:r>
          </a:p>
        </p:txBody>
      </p:sp>
      <p:pic>
        <p:nvPicPr>
          <p:cNvPr id="216" name="Picture 215" descr="slide_20_gdp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1828800"/>
            <a:ext cx="1088136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f15a98193e_0_215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Limitations &amp; Challenges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2" name="TextBox 221"/>
          <p:cNvSpPr txBox="1"/>
          <p:nvPr/>
        </p:nvSpPr>
        <p:spPr>
          <a:xfrm>
            <a:off x="640080" y="12801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4B5563"/>
                </a:solidFill>
                <a:latin typeface="Arial"/>
              </a:defRPr>
            </a:pPr>
            <a:r>
              <a:t>Analysis of classroom sensing occlusions and corresponding multi-modal fallback mitigations.</a:t>
            </a:r>
          </a:p>
        </p:txBody>
      </p:sp>
      <p:pic>
        <p:nvPicPr>
          <p:cNvPr id="223" name="Picture 222" descr="slide_21_occlus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1828800"/>
            <a:ext cx="1088136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f15a98193e_0_222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Conclusion &amp; Future Work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9" name="Rounded Rectangle 228"/>
          <p:cNvSpPr/>
          <p:nvPr/>
        </p:nvSpPr>
        <p:spPr>
          <a:xfrm>
            <a:off x="640080" y="1828800"/>
            <a:ext cx="5212080" cy="438912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E3A8A"/>
                </a:solidFill>
                <a:latin typeface="Arial"/>
              </a:defRPr>
            </a:pPr>
            <a:r>
              <a:t>KEY SYSTEM CONCLUSIONS</a:t>
            </a:r>
          </a:p>
          <a:p>
            <a:br/>
            <a:pPr>
              <a:lnSpc>
                <a:spcPct val="130000"/>
              </a:lnSpc>
              <a:defRPr sz="1000">
                <a:solidFill>
                  <a:srgbClr val="374151"/>
                </a:solidFill>
                <a:latin typeface="Arial"/>
              </a:defRPr>
            </a:pPr>
            <a:r>
              <a:t>• Resolved Privacy-Utility Conflict:</a:t>
            </a:r>
            <a:br/>
            <a:r>
              <a:t>  Demonstrated real-time presence audit without persistent biometric records.</a:t>
            </a:r>
            <a:br/>
            <a:br/>
            <a:r>
              <a:t>• Strict GDPR Compliance:</a:t>
            </a:r>
            <a:br/>
            <a:r>
              <a:t>  Validates Article 25 (Privacy-by-Design) and Article 17 (Right-to-Erasure) boundaries.</a:t>
            </a:r>
            <a:br/>
            <a:br/>
            <a:r>
              <a:t>• High Accuracy Open-Set Biometrics:</a:t>
            </a:r>
            <a:br/>
            <a:r>
              <a:t>  Achieved 88.33% OSIR and 100.0% UIRR on stranger detection.</a:t>
            </a:r>
            <a:br/>
            <a:br/>
            <a:r>
              <a:t>• Zero-Latency Local Performance:</a:t>
            </a:r>
            <a:br/>
            <a:r>
              <a:t>  Sub-60ms mean frame inference allows robust local deployment at the edge.</a:t>
            </a:r>
          </a:p>
        </p:txBody>
      </p:sp>
      <p:sp>
        <p:nvSpPr>
          <p:cNvPr id="230" name="Rounded Rectangle 229"/>
          <p:cNvSpPr/>
          <p:nvPr/>
        </p:nvSpPr>
        <p:spPr>
          <a:xfrm>
            <a:off x="6217920" y="1828800"/>
            <a:ext cx="5212080" cy="4389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783504"/>
                </a:solidFill>
                <a:latin typeface="Arial"/>
              </a:defRPr>
            </a:pPr>
            <a:r>
              <a:t>FUTURE WORK &amp; EXTENSIONS</a:t>
            </a:r>
          </a:p>
          <a:p>
            <a:br/>
            <a:pPr>
              <a:lnSpc>
                <a:spcPct val="130000"/>
              </a:lnSpc>
              <a:defRPr sz="1000">
                <a:solidFill>
                  <a:srgbClr val="374151"/>
                </a:solidFill>
                <a:latin typeface="Arial"/>
              </a:defRPr>
            </a:pPr>
            <a:r>
              <a:t>• Edge Model Quantization:</a:t>
            </a:r>
            <a:br/>
            <a:r>
              <a:t>  INT8 quantization and ONNX weight pruning for cheap microcontrollers.</a:t>
            </a:r>
            <a:br/>
            <a:br/>
            <a:r>
              <a:t>• Distributed Ledger Decentralization:</a:t>
            </a:r>
            <a:br/>
            <a:r>
              <a:t>  Blockchain integration to log Merkle tree root hashes securely.</a:t>
            </a:r>
            <a:br/>
            <a:br/>
            <a:r>
              <a:t>• Sensor Fusion Enhancement:</a:t>
            </a:r>
            <a:br/>
            <a:r>
              <a:t>  Adding multi-camera spatial fusion to resolve person-person occlusion.</a:t>
            </a:r>
            <a:br/>
            <a:br/>
            <a:r>
              <a:t>• ERP Integration:</a:t>
            </a:r>
            <a:br/>
            <a:r>
              <a:t>  Connecting directly to university ERP systems and mobile alert notification APIs.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2"/>
          <p:cNvSpPr txBox="1"/>
          <p:nvPr>
            <p:ph type="title"/>
          </p:nvPr>
        </p:nvSpPr>
        <p:spPr>
          <a:xfrm>
            <a:off x="640080" y="1302091"/>
            <a:ext cx="3291840" cy="2770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 sz="4400"/>
              <a:t>THANK YOU</a:t>
            </a:r>
            <a:endParaRPr/>
          </a:p>
        </p:txBody>
      </p:sp>
      <p:sp>
        <p:nvSpPr>
          <p:cNvPr id="237" name="TextBox 236"/>
          <p:cNvSpPr txBox="1"/>
          <p:nvPr/>
        </p:nvSpPr>
        <p:spPr>
          <a:xfrm>
            <a:off x="640080" y="228600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1E3A8A"/>
                </a:solidFill>
                <a:latin typeface="Arial"/>
              </a:defRPr>
            </a:pPr>
            <a:r>
              <a:t>THANK YOU</a:t>
            </a:r>
          </a:p>
          <a:p>
            <a:br/>
            <a:pPr>
              <a:defRPr sz="1800">
                <a:solidFill>
                  <a:srgbClr val="4B5563"/>
                </a:solidFill>
                <a:latin typeface="Arial"/>
              </a:defRPr>
            </a:pPr>
            <a:r>
              <a:t>Questions &amp; Comments are Welcome</a:t>
            </a:r>
          </a:p>
        </p:txBody>
      </p:sp>
      <p:sp>
        <p:nvSpPr>
          <p:cNvPr id="238" name="Rounded Rectangle 237"/>
          <p:cNvSpPr/>
          <p:nvPr/>
        </p:nvSpPr>
        <p:spPr>
          <a:xfrm>
            <a:off x="5943600" y="2011680"/>
            <a:ext cx="5303520" cy="3657600"/>
          </a:xfrm>
          <a:prstGeom prst="roundRect">
            <a:avLst/>
          </a:prstGeom>
          <a:solidFill>
            <a:srgbClr val="F3F4F6"/>
          </a:solidFill>
          <a:ln w="1905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E3A8A"/>
                </a:solidFill>
                <a:latin typeface="Times New Roman"/>
              </a:defRPr>
            </a:pPr>
            <a:r>
              <a:t>Candidate Details</a:t>
            </a:r>
          </a:p>
          <a:p>
            <a:br/>
            <a:pPr>
              <a:lnSpc>
                <a:spcPct val="130000"/>
              </a:lnSpc>
              <a:defRPr sz="1200">
                <a:solidFill>
                  <a:srgbClr val="1F2937"/>
                </a:solidFill>
                <a:latin typeface="Times New Roman"/>
              </a:defRPr>
            </a:pPr>
            <a:r>
              <a:t>POLISETTI NARENDRA</a:t>
            </a:r>
            <a:br/>
            <a:r>
              <a:t>Roll No: 24A21D5827</a:t>
            </a:r>
            <a:br/>
            <a:r>
              <a:t>M.Tech (Computer Science &amp; Engineering)</a:t>
            </a:r>
            <a:br/>
            <a:br/>
            <a:r>
              <a:t>Swarnandhra College of Engineering and Technology</a:t>
            </a:r>
            <a:br/>
            <a:r>
              <a:t>(Autonomous)</a:t>
            </a:r>
            <a:br/>
            <a:r>
              <a:t>Seetharampuram, Narsapur, West Godavari District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4B5563"/>
                </a:solidFill>
                <a:latin typeface="Arial"/>
              </a:defRPr>
            </a:pPr>
            <a:r>
              <a:t>Context of computer-vision-based student presence and edge monitoring systems.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  <a:latin typeface="Arial"/>
              </a:defRPr>
            </a:pPr>
            <a:r>
              <a:t>• Automated Tracking:</a:t>
            </a:r>
            <a:br/>
            <a:r>
              <a:t>  Automated monitoring replaces manual rosters to prevent class-time truancies.</a:t>
            </a:r>
            <a:br/>
            <a:br/>
            <a:r>
              <a:t>• Decentralized Edge AI:</a:t>
            </a:r>
            <a:br/>
            <a:r>
              <a:t>  Local cameras and processors run biometrics locally, protecting raw sensors.</a:t>
            </a:r>
            <a:br/>
            <a:br/>
            <a:r>
              <a:t>• Regulatory Context:</a:t>
            </a:r>
            <a:br/>
            <a:r>
              <a:t>  Operates under strict privacy rules (GDPR) prohibiting centralized biometric storage.</a:t>
            </a:r>
          </a:p>
        </p:txBody>
      </p:sp>
      <p:pic>
        <p:nvPicPr>
          <p:cNvPr id="5" name="Picture 4" descr="slide_2_intro_infograph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560320"/>
            <a:ext cx="6766560" cy="278892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Literature Survey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4B5563"/>
                </a:solidFill>
                <a:latin typeface="Arial"/>
              </a:defRPr>
            </a:pPr>
            <a:r>
              <a:t>Comparison of traditional systems, closed-set biometrics, and the proposed spatiotemporal framework.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828800"/>
          <a:ext cx="1088136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0340"/>
                <a:gridCol w="2720340"/>
                <a:gridCol w="2720340"/>
                <a:gridCol w="2720340"/>
              </a:tblGrid>
              <a:tr h="87782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Key Aspect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Traditional [RFID / Manual]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Closed-Set [FaceNet / MTCNN]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Proposed ScholarMaster Engine</a:t>
                      </a:r>
                    </a:p>
                  </a:txBody>
                  <a:tcPr/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Biometric Search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None (Manual Logs)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Closed-Set Search (Small 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Open-Set FAISS HNSW (N=100k) [1, 2]</a:t>
                      </a:r>
                    </a:p>
                  </a:txBody>
                  <a:tcPr/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Verification Check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None (Proxy swiping risk)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Liveness check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ST-CSF schedule heuristics [6]</a:t>
                      </a:r>
                    </a:p>
                  </a:txBody>
                  <a:tcPr/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Privacy Boundary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Low (Sheets visible)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Central Database (Vulnerable)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33ms Volatile RAM cache [5]</a:t>
                      </a:r>
                    </a:p>
                  </a:txBody>
                  <a:tcPr/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Audit Integrity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Manual sheets (Vulnerable)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Plain database logs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Cryptographic Merkle Ledger [7]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4B5563"/>
                </a:solidFill>
                <a:latin typeface="Arial"/>
              </a:defRPr>
            </a:pPr>
            <a:r>
              <a:t>Key architectural and privacy shortcomings identified in prior monitoring implementations.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  <a:latin typeface="Arial"/>
              </a:defRPr>
            </a:pPr>
            <a:r>
              <a:t>• Open-Set Failure:</a:t>
            </a:r>
            <a:br/>
            <a:r>
              <a:t>  Prior systems use closed-set models which fail on unregistered strangers, causing false database matches.</a:t>
            </a:r>
            <a:br/>
            <a:br/>
            <a:r>
              <a:t>• Central Storage Risks:</a:t>
            </a:r>
            <a:br/>
            <a:r>
              <a:t>  Central biometric template databases violate GDPR Article 25 (Privacy-by-Design).</a:t>
            </a:r>
            <a:br/>
            <a:br/>
            <a:r>
              <a:t>• Lack of Context:</a:t>
            </a:r>
            <a:br/>
            <a:r>
              <a:t>  Static verification fails to check physical presence coordinates, enabling proxy frauds.</a:t>
            </a:r>
          </a:p>
        </p:txBody>
      </p:sp>
      <p:pic>
        <p:nvPicPr>
          <p:cNvPr id="5" name="Picture 4" descr="slide_6_research_ga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560320"/>
            <a:ext cx="6766560" cy="278892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Hardware Sizing &amp; Scaling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4B5563"/>
                </a:solidFill>
                <a:latin typeface="Arial"/>
              </a:defRPr>
            </a:pPr>
            <a:r>
              <a:t>Sizing bounds and hardware cost-utility scaling comparing distributed edge nodes to centralized CCTV servers.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  <a:latin typeface="Arial"/>
              </a:defRPr>
            </a:pPr>
            <a:r>
              <a:t>• Jetson Capacity Scaling:</a:t>
            </a:r>
            <a:br/>
            <a:r>
              <a:t>  One Jetson Orin Nano (8GB) handles 8 to 10 IP cameras at 5 FPS 1080p, utilizing TensorRT FP16 batching.</a:t>
            </a:r>
            <a:br/>
            <a:br/>
            <a:r>
              <a:t>• Bandwidth Minimization:</a:t>
            </a:r>
            <a:br/>
            <a:r>
              <a:t>  Video streams are decoded and discarded locally. Replaces 1.2 Gbps core stream traffic with lightweight text/hash transfers.</a:t>
            </a:r>
            <a:br/>
            <a:br/>
            <a:r>
              <a:t>• Optimal Cost-Utility:</a:t>
            </a:r>
            <a:br/>
            <a:r>
              <a:t>  Distributed edge switches or hybrid departmental NVRs scale linearly O(C) without central server bottlenecks.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754880" y="1828800"/>
          <a:ext cx="64922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8448"/>
                <a:gridCol w="1298448"/>
                <a:gridCol w="1298448"/>
                <a:gridCol w="1298448"/>
                <a:gridCol w="1298448"/>
              </a:tblGrid>
              <a:tr h="109728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Architecture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Nodes (300 Cam)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Hardware 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Network Load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GDPR Risk</a:t>
                      </a:r>
                    </a:p>
                  </a:txBody>
                  <a:tcPr/>
                </a:tc>
              </a:tr>
              <a:tr h="109728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Pure Edge</a:t>
                      </a:r>
                    </a:p>
                    <a:p>
                      <a:pPr>
                        <a:defRPr sz="8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(Distributed)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30 Jetsons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$14,970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Low (~2 Mbps)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Zero</a:t>
                      </a:r>
                    </a:p>
                  </a:txBody>
                  <a:tcPr/>
                </a:tc>
              </a:tr>
              <a:tr h="109728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Central CCTV</a:t>
                      </a:r>
                    </a:p>
                    <a:p>
                      <a:pPr>
                        <a:defRPr sz="8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(Server)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1 Rack Server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$9k - $19k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High (1.2 Gbps)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Extreme</a:t>
                      </a:r>
                    </a:p>
                  </a:txBody>
                  <a:tcPr/>
                </a:tc>
              </a:tr>
              <a:tr h="109728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Hybrid NVR</a:t>
                      </a:r>
                    </a:p>
                    <a:p>
                      <a:pPr>
                        <a:defRPr sz="8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(Departmental)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10 PCs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$12,000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Med (~120 Mbps)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Low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4B5563"/>
                </a:solidFill>
                <a:latin typeface="Arial"/>
              </a:defRPr>
            </a:pPr>
            <a:r>
              <a:t>Key publications supporting biometric open-set search, spatiotemporal constraints, and lab security foundations.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5212080" cy="438912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E3A8A"/>
                </a:solidFill>
                <a:latin typeface="Arial"/>
              </a:defRPr>
            </a:pPr>
            <a:r>
              <a:t>CORE &amp; RECENT SOTA REFERENCES</a:t>
            </a:r>
          </a:p>
          <a:p>
            <a:br/>
            <a:pPr>
              <a:lnSpc>
                <a:spcPct val="125000"/>
              </a:lnSpc>
              <a:defRPr sz="850">
                <a:solidFill>
                  <a:srgbClr val="374151"/>
                </a:solidFill>
                <a:latin typeface="Arial"/>
              </a:defRPr>
            </a:pPr>
            <a:r>
              <a:t>[1] J. Deng, J. Guo, N. Xue, and S. Zafeiriou, "ArcFace: Additive angular margin loss for deep face recognition," in CVPR, pp. 4690–4699, 2019.</a:t>
            </a:r>
            <a:br/>
            <a:br/>
            <a:r>
              <a:t>[2] J. Johnson, M. Douze, and H. Jégou, "Billion-scale similarity search with GPUs," IEEE Transactions on Big Data, vol. 7, no. 3, pp. 535–547, 2019.</a:t>
            </a:r>
            <a:br/>
            <a:br/>
            <a:r>
              <a:t>[3] M. Wang and W. Deng, "Deep face recognition: A survey," Neurocomputing, vol. 429, pp. 215–244, 2021 (Recent SOTA).</a:t>
            </a:r>
            <a:br/>
            <a:br/>
            <a:r>
              <a:t>[4] G. Jocher, A. Chaurasia, and J. Qiu, "Ultralytics YOLOv8 State-of-the-Art Object Detection," GitHub, 2023 (Recent SOTA).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828800"/>
            <a:ext cx="5212080" cy="4389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783504"/>
                </a:solidFill>
                <a:latin typeface="Arial"/>
              </a:defRPr>
            </a:pPr>
            <a:r>
              <a:t>REGULATORY &amp; LAB ALIGNMENT</a:t>
            </a:r>
          </a:p>
          <a:p>
            <a:br/>
            <a:pPr>
              <a:lnSpc>
                <a:spcPct val="125000"/>
              </a:lnSpc>
              <a:defRPr sz="850">
                <a:solidFill>
                  <a:srgbClr val="374151"/>
                </a:solidFill>
                <a:latin typeface="Arial"/>
              </a:defRPr>
            </a:pPr>
            <a:r>
              <a:t>[5] European Parliament, "Regulation (EU) 2016/679 (GDPR)," Official Journal of the European Union, 2016.</a:t>
            </a:r>
            <a:br/>
            <a:br/>
            <a:r>
              <a:t>[6] V. Chandrasekar, S. Suresh Kumar, and T. Maheswari, "Authentication based on keystroke dynamics using stochastic diffusion algorithm," Stochastic Analysis and Applications, vol. 34, no. 1, pp. 155–164, 2016 (Lab Heritage).</a:t>
            </a:r>
            <a:br/>
            <a:br/>
            <a:r>
              <a:t>[7] S. Suresh Kumar et al., "Decentralized Smart Campus Infrastructure and Edge-IoT Cryptographic Audits," IEEE Access, vol. 12, pp. 10245–10255, 2024 (Recent Lab SOTA).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2025-07-19T04:09:48Z</dcterms:created>
  <dc:creator>tpk KUMAR</dc:creator>
</cp:coreProperties>
</file>